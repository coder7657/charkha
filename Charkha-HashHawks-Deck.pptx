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sec]
Namaste. Hum HashHawks hain, aur ye hai Charkha.
Ek line mein: jo crop residue jalaya jaata, wo satellite se detect hota hai, nearest conversion unit tak route hota hai, phone se verify hota hai, aur ek carbon credit ban jaata hai - jise koi bhi khud check kar sakta hai.
Jo bhi aaj dikhaunga wo LIVE hai, us address par abhi chal raha hai. Kuch bhi mocked nahi hai.
SLIDE MAT PADHO. Bas ye line bolo aur aage badho.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sec]
Har October-November mein Punjab aur Haryana ke kisaan crop residue jalate hain. Delhi wahi saans leta hai.
Sabse important baat: ye ignorance NAHI hai. Dhaan kaatne aur gehun bone ke beech sirf do hafte milte hain. Utne time mein khet saaf karne ka sabse sasta tareeka jalana hi hai.
Aur alternative pehle se maujood hai. Residue ko biochar banao - carbon sadiyon ke liye mitti mein lock ho jaata hai, aur kisaan ko carbon credit milna chahiye.
Toh phir hota kyun nahi? Wo agli slide hai.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sec]
Kyunki buyer ko chaar cheezein maanni padti hain, aur usse milta kya hai - ek PDF aur kisi ka bharosa.
Double counting - ek hi tonne do baar bech dena - voluntary carbon market ka sabse bada fraud hai. Aur jo registry credit issue karti hai, wo aksar usi commercial relationship ka hissa hoti hai jo audit karta hai.
Ye line DHEERE bolna: problem technology ki nahi hai. Problem verifiability ki hai.
Yahi humne banaya.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sec]
Paanch steps. Satellite se detect. Nearest unit tak route - aur ranking distance par nahi, transport CO2 par hoti hai. Field mein phone se verify. Credential issue. Phir retire.
Asli baat neeche wali patti hai. In paanchon mein se har step append-only ledger mein SIRF EK row likhta hai, aur har row mein pichhli row ka hash hota hai.
Matlab agar koi record badalta hai - hum bhi - toh chain theek us row par toot jaati hai, aur uske baad ki har row par bhi. Ye aap do minute mein LIVE dekhenge.
Aur ek task id poori chain ko jodti hai - satellite pixel se retired credit tak.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sec]
Ye ek app ke paanch modules nahi hain. Ye paanch alag processes hain jo Google ke Agent2Agent protocol par baat karte hain - official SDK, har ek apna Agent Card serve karta hai, aur bina token ke call ko 401 se mana kar deta hai.
Paanchwa, Saathi, wo hai jisse insaan baat karta hai. Hindi, Punjabi, Gujarati ya English mein ek line lo - wo samajhta hai kaunse agents jawab de sakte hain, unhe call karta hai, aur phir DIKHATA hai ki kin agents ko call kiya.
Aur jaan boojh kar: koi blockchain nahi, koi token nahi, koi gas fee nahi. Hash chain wahi tamper-evidence de deti hai. Agar koi poochhe 'blockchain kyun nahi' - yahi jawab hai, aur slide 10 par lamba version hai.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MINUTE - talk ka dil. Jaldi mat karo. Paanchwi cheez MAT jodo.]
PEHLE SE TAIYAR: browser khula ho, Saathi tab par. Phone field screen par. Bolo: 'ye live deployment hai, recording nahi.'
1. SAATHI (45s) - Punjabi line type karo. Jawab padh kar sunao. Phir neeche hops par ungli rakho: 'is jawab ke liye producer agent ko asli call gaya - ye raha uska task id, aur is id ko aap ledger mein khud dhoondh sakte hain.'
2. DECLARE (40s) - type karo: we have 4.5 t of mixed waste in Karnal. Wo poochhega kaun declare kar raha hai. Batao, phir confirm. Bolo: 'municipality apna kachra kabhi jalati nahi, isliye koi satellite use dekh hi nahi sakta. Ye doosra raasta hai - aur ye DECLARED mark hota hai, DETECTED nahi, kyunki jise paisa milna hai uska dava aur satellite ka saboot ek jaisa nahi hota.'
3. CREDIT (50s) - phone se photo. Jab score ho raha ho tab bolo: 'photo is phone se kabhi bahar nahi jaati. Server par sirf hash aur scores jaate hain - lagbhag 700 bytes.' Phir credit dikhao.
4. BREAK IT (45s) - Audit screen, verify chain, phir ek row edit karo. Laal patti aane do. DO SECOND CHUP RAHO. Phir bolo: 'theek usi row par tootti hai, aur uske baad sab orphan ho jaata hai.'
AGAR KUCH FAIL HO: bolo 'ye live system sach bol raha hai' aur slide 7 par jao. Stage par debug MAT karo.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sec]
Humne jitne bhi guards banaye, normal dashboard par wo dikhte hi nahi. Isliye humne ek screen banayi jahan aap system par HAMLA karte ho.
Chhe attempts, har ek live API par asli request bhejta hai, aur asli status code aur asli refusal dikhata hai. Kuch simulated nahi - agar fake hota toh ye screen bekaar hoti.
Judges ko invite karo: 'chaahein toh baad mein khud ye buttons daba kar dekh lijiye.'
Paanchwa point zaroor bolna. Ek photo, ek credit. Pehle ek hi char pile ki photo se paanch credit ban sakte the - humne khud pakda, database constraint se band kiya, aur ab paanch ek saath koshishein karo toh bhi sirf EK row banti hai.
Agar kabhi koi hari line laal ho jaaye, wo asli failure hai aur hum jaanna chahenge.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 sec]
Carbon maths mein chaar constants hain aur har ek ke saath code mein citation string hai - comment mein nahi, data structure mein. 'Humne andaza lagaya' - ye 'ye number kahan se aaya' ka haarne wala jawab hai.
Jo dikhana hai wo hai 1.437 tonne CO2 per tonne biochar, IPCC 2019 Refinement se.
Aur ye baat judge ko zaroor sunni chahiye: usi table mein ek class hai jo humein 1.91 deti - har slide par bada number. Humne rice-straw wala liya kyunki paddy straw humara feedstock hai, aur KAM credit dena conservative galti hai.
Transport ghataya jaata hai, toh lambi dhulai par credit khud-ba-khud kam hota hai. System usi cheez ko penalty deta hai jise deni chahiye.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 sec]
Humare problem statement mein chaar users likhe hain: municipalities, farms, food aur industrial waste generators, aur conversion facility operators.
Satellite sirf wahi kachra dhoondhta hai jo JAL raha ho. Municipality apna organic waste landfill karti hai - wo jalta hi nahi, toh koi thermal sensor use kabhi nahi dekhega. Chaar mein se do users andar aa hi nahi sakte the.
Isliye do raaste hain. Aur dono ko kabhi ek jaisa nahi dikhne dete: satellite detection swatantra saboot hai, declaration us aadmi ka dava hai jise paisa milna hai. Alag weight, har jagah alag mark.
Agar koi baadal ke baare mein poochhe - aur poochhna chahiye - toh baayan box wahi hai. Baadal thermal detection ko poori tarah rok deta hai. Hum ye Provenance screen par khud likhte hain, poochhne ka intezaar nahi karte.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 sec]
Ye product ki screen hai, aapke liye banayi gayi slide nahi. Ye chal rahe services se LIVE padhti hai, isliye ye system se alag ho hi nahi sakti.
Beech wala column dhyaan se batana. Humara char-quality model ek documented COLOUR HEURISTIC hai - kaala matlab acha char. Ye trained classifier NAHI hai, aur hum ye model manifest mein aur is screen par khud likhte hain.
Ye saaf bolna: vision model sirf ek triage signal hai. Batch ko asli mein verify methodology karti hai - peak temperature, residence time, hydrogen-to-carbon ratio, aur output ko matched lot se milana. Verdict ke paanch mein se chaar signals model ke ache hone par depend hi nahi karte.
Aur neeche wali line sach mein isi screen ke hone ki wajah hai.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 sec]
Jaldi - har number MAT padhna.
Teen par ungli rakho: 643 tests, ek bhi skip nahi. Live ledger 92 records ka, aur abhi bhi verify hota hai. Aur ZERO hosted AI calls - humara CI build hi fail kar deta hai agar source mein OpenAI jaisa endpoint aa jaaye, kyunki saara inference local hai, design se.
Phir neeche wali line: ye command humare live deployment par pandrah end-to-end stages chalata hai, kisi bhi laptop se. Aap khud chala sakte ho. Humara room mein hona zaroori nahi.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sec]
Toh: verifiable, warna ye bas ek aur certificate hai.
Charkha ek satellite pixel ko aise carbon credit mein badalta hai jise koi ajnabi khud check kar sakta hai - humpar bharosa kiye bina, aur humare hi database se gawahi mangwaye bina.
Hum HashHawks hain. System abhi us address par live chal raha hai, aur hum sawaalon ke liye taiyar hain.
YE SLIDE Q&amp;A MEIN KHULI CHHODO - URL screen par rehna chahiye.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B0E0D"/>
          </a:solidFill>
          <a:ln/>
        </p:spPr>
      </p:sp>
      <p:sp>
        <p:nvSpPr>
          <p:cNvPr id="3" name="Text 1"/>
          <p:cNvSpPr txBox="1"/>
          <p:nvPr/>
        </p:nvSpPr>
        <p:spPr>
          <a:xfrm>
            <a:off x="640080" y="731520"/>
            <a:ext cx="5486400" cy="237744"/>
          </a:xfrm>
          <a:prstGeom prst="rect">
            <a:avLst/>
          </a:prstGeom>
          <a:noFill/>
          <a:ln/>
        </p:spPr>
        <p:txBody>
          <a:bodyPr wrap="square" lIns="0" tIns="0" rIns="0" bIns="0" rtlCol="0" anchor="ctr"/>
          <a:lstStyle/>
          <a:p>
            <a:pPr indent="0" marL="0">
              <a:buNone/>
            </a:pPr>
            <a:r>
              <a:rPr lang="en-US" sz="1000" b="1" spc="200" kern="0" dirty="0">
                <a:solidFill>
                  <a:srgbClr val="FFB02E"/>
                </a:solidFill>
                <a:latin typeface="Courier New" pitchFamily="34" charset="0"/>
                <a:ea typeface="Courier New" pitchFamily="34" charset="-122"/>
                <a:cs typeface="Courier New" pitchFamily="34" charset="-120"/>
              </a:rPr>
              <a:t>HACKOUT'26   ·   CIRCULAR CARBON ECOSYSTEM</a:t>
            </a:r>
            <a:endParaRPr lang="en-US" sz="1000" dirty="0"/>
          </a:p>
        </p:txBody>
      </p:sp>
      <p:sp>
        <p:nvSpPr>
          <p:cNvPr id="4" name="Text 2"/>
          <p:cNvSpPr txBox="1"/>
          <p:nvPr/>
        </p:nvSpPr>
        <p:spPr>
          <a:xfrm>
            <a:off x="640080" y="1280160"/>
            <a:ext cx="10881360" cy="1280160"/>
          </a:xfrm>
          <a:prstGeom prst="rect">
            <a:avLst/>
          </a:prstGeom>
          <a:noFill/>
          <a:ln/>
        </p:spPr>
        <p:txBody>
          <a:bodyPr wrap="square" lIns="0" tIns="0" rIns="0" bIns="0" rtlCol="0" anchor="ctr"/>
          <a:lstStyle/>
          <a:p>
            <a:pPr indent="0" marL="0">
              <a:buNone/>
            </a:pPr>
            <a:r>
              <a:rPr lang="en-US" sz="6800" b="1" dirty="0">
                <a:solidFill>
                  <a:srgbClr val="EEF2EE"/>
                </a:solidFill>
                <a:latin typeface="Cambria" pitchFamily="34" charset="0"/>
                <a:ea typeface="Cambria" pitchFamily="34" charset="-122"/>
                <a:cs typeface="Cambria" pitchFamily="34" charset="-120"/>
              </a:rPr>
              <a:t>Charkha</a:t>
            </a:r>
            <a:endParaRPr lang="en-US" sz="6800" dirty="0"/>
          </a:p>
        </p:txBody>
      </p:sp>
      <p:sp>
        <p:nvSpPr>
          <p:cNvPr id="5" name="Text 3"/>
          <p:cNvSpPr txBox="1"/>
          <p:nvPr/>
        </p:nvSpPr>
        <p:spPr>
          <a:xfrm>
            <a:off x="640080" y="2651760"/>
            <a:ext cx="10881360" cy="548640"/>
          </a:xfrm>
          <a:prstGeom prst="rect">
            <a:avLst/>
          </a:prstGeom>
          <a:noFill/>
          <a:ln/>
        </p:spPr>
        <p:txBody>
          <a:bodyPr wrap="square" lIns="0" tIns="0" rIns="0" bIns="0" rtlCol="0" anchor="ctr"/>
          <a:lstStyle/>
          <a:p>
            <a:pPr indent="0" marL="0">
              <a:buNone/>
            </a:pPr>
            <a:r>
              <a:rPr lang="en-US" sz="2500" dirty="0">
                <a:solidFill>
                  <a:srgbClr val="FFB02E"/>
                </a:solidFill>
                <a:latin typeface="Cambria" pitchFamily="34" charset="0"/>
                <a:ea typeface="Cambria" pitchFamily="34" charset="-122"/>
                <a:cs typeface="Cambria" pitchFamily="34" charset="-120"/>
              </a:rPr>
              <a:t>Waste-to-Carbon-Value Chain Tracker</a:t>
            </a:r>
            <a:endParaRPr lang="en-US" sz="2500" dirty="0"/>
          </a:p>
        </p:txBody>
      </p:sp>
      <p:sp>
        <p:nvSpPr>
          <p:cNvPr id="6" name="Text 4"/>
          <p:cNvSpPr txBox="1"/>
          <p:nvPr/>
        </p:nvSpPr>
        <p:spPr>
          <a:xfrm>
            <a:off x="640080" y="3429000"/>
            <a:ext cx="8961120" cy="1097280"/>
          </a:xfrm>
          <a:prstGeom prst="rect">
            <a:avLst/>
          </a:prstGeom>
          <a:noFill/>
          <a:ln/>
        </p:spPr>
        <p:txBody>
          <a:bodyPr wrap="square" lIns="0" tIns="0" rIns="0" bIns="0" rtlCol="0" anchor="ctr"/>
          <a:lstStyle/>
          <a:p>
            <a:pPr indent="0" marL="0">
              <a:lnSpc>
                <a:spcPts val="2500"/>
              </a:lnSpc>
              <a:buNone/>
            </a:pPr>
            <a:r>
              <a:rPr lang="en-US" sz="1500" dirty="0">
                <a:solidFill>
                  <a:srgbClr val="9AA8A0"/>
                </a:solidFill>
                <a:latin typeface="Calibri" pitchFamily="34" charset="0"/>
                <a:ea typeface="Calibri" pitchFamily="34" charset="-122"/>
                <a:cs typeface="Calibri" pitchFamily="34" charset="-120"/>
              </a:rPr>
              <a:t>Crop residue that would be burned is detected from satellite, routed to a conversion unit,</a:t>
            </a:r>
            <a:endParaRPr lang="en-US" sz="1500" dirty="0"/>
          </a:p>
          <a:p>
            <a:pPr indent="0" marL="0">
              <a:lnSpc>
                <a:spcPts val="2500"/>
              </a:lnSpc>
              <a:buNone/>
            </a:pPr>
            <a:r>
              <a:rPr lang="en-US" sz="1500" dirty="0">
                <a:solidFill>
                  <a:srgbClr val="9AA8A0"/>
                </a:solidFill>
                <a:latin typeface="Calibri" pitchFamily="34" charset="0"/>
                <a:ea typeface="Calibri" pitchFamily="34" charset="-122"/>
                <a:cs typeface="Calibri" pitchFamily="34" charset="-120"/>
              </a:rPr>
              <a:t>verified from a phone, and issued as a retirable carbon credit. One task id threads the chain.</a:t>
            </a:r>
            <a:endParaRPr lang="en-US" sz="1500" dirty="0"/>
          </a:p>
        </p:txBody>
      </p:sp>
      <p:sp>
        <p:nvSpPr>
          <p:cNvPr id="7" name="Shape 5"/>
          <p:cNvSpPr/>
          <p:nvPr/>
        </p:nvSpPr>
        <p:spPr>
          <a:xfrm>
            <a:off x="640080" y="4846320"/>
            <a:ext cx="4937760" cy="868680"/>
          </a:xfrm>
          <a:prstGeom prst="roundRect">
            <a:avLst>
              <a:gd name="adj" fmla="val 8421"/>
            </a:avLst>
          </a:prstGeom>
          <a:solidFill>
            <a:srgbClr val="1C2522"/>
          </a:solidFill>
          <a:ln/>
        </p:spPr>
      </p:sp>
      <p:sp>
        <p:nvSpPr>
          <p:cNvPr id="8" name="Text 6"/>
          <p:cNvSpPr txBox="1"/>
          <p:nvPr/>
        </p:nvSpPr>
        <p:spPr>
          <a:xfrm>
            <a:off x="868680" y="4956048"/>
            <a:ext cx="4572000" cy="292608"/>
          </a:xfrm>
          <a:prstGeom prst="rect">
            <a:avLst/>
          </a:prstGeom>
          <a:noFill/>
          <a:ln/>
        </p:spPr>
        <p:txBody>
          <a:bodyPr wrap="square" lIns="0" tIns="0" rIns="0" bIns="0" rtlCol="0" anchor="ctr"/>
          <a:lstStyle/>
          <a:p>
            <a:pPr indent="0" marL="0">
              <a:buNone/>
            </a:pPr>
            <a:r>
              <a:rPr lang="en-US" sz="1700" b="1" dirty="0">
                <a:solidFill>
                  <a:srgbClr val="EEF2EE"/>
                </a:solidFill>
                <a:latin typeface="Cambria" pitchFamily="34" charset="0"/>
                <a:ea typeface="Cambria" pitchFamily="34" charset="-122"/>
                <a:cs typeface="Cambria" pitchFamily="34" charset="-120"/>
              </a:rPr>
              <a:t>HashHawks</a:t>
            </a:r>
            <a:endParaRPr lang="en-US" sz="1700" dirty="0"/>
          </a:p>
        </p:txBody>
      </p:sp>
      <p:sp>
        <p:nvSpPr>
          <p:cNvPr id="9" name="Text 7"/>
          <p:cNvSpPr txBox="1"/>
          <p:nvPr/>
        </p:nvSpPr>
        <p:spPr>
          <a:xfrm>
            <a:off x="868680" y="5276088"/>
            <a:ext cx="4572000" cy="274320"/>
          </a:xfrm>
          <a:prstGeom prst="rect">
            <a:avLst/>
          </a:prstGeom>
          <a:noFill/>
          <a:ln/>
        </p:spPr>
        <p:txBody>
          <a:bodyPr wrap="square" lIns="0" tIns="0" rIns="0" bIns="0" rtlCol="0" anchor="ctr"/>
          <a:lstStyle/>
          <a:p>
            <a:pPr indent="0" marL="0">
              <a:buNone/>
            </a:pPr>
            <a:r>
              <a:rPr lang="en-US" sz="1200" dirty="0">
                <a:solidFill>
                  <a:srgbClr val="9AA8A0"/>
                </a:solidFill>
                <a:latin typeface="Calibri" pitchFamily="34" charset="0"/>
                <a:ea typeface="Calibri" pitchFamily="34" charset="-122"/>
                <a:cs typeface="Calibri" pitchFamily="34" charset="-120"/>
              </a:rPr>
              <a:t>Pavan  ·  Harsh  ·  Hem  ·  Ayush</a:t>
            </a:r>
            <a:endParaRPr lang="en-US" sz="1200" dirty="0"/>
          </a:p>
        </p:txBody>
      </p:sp>
      <p:sp>
        <p:nvSpPr>
          <p:cNvPr id="10" name="Text 8"/>
          <p:cNvSpPr txBox="1"/>
          <p:nvPr/>
        </p:nvSpPr>
        <p:spPr>
          <a:xfrm>
            <a:off x="5943600" y="5138928"/>
            <a:ext cx="5669280" cy="274320"/>
          </a:xfrm>
          <a:prstGeom prst="rect">
            <a:avLst/>
          </a:prstGeom>
          <a:noFill/>
          <a:ln/>
        </p:spPr>
        <p:txBody>
          <a:bodyPr wrap="square" lIns="0" tIns="0" rIns="0" bIns="0" rtlCol="0" anchor="ctr"/>
          <a:lstStyle/>
          <a:p>
            <a:pPr indent="0" marL="0">
              <a:buNone/>
            </a:pPr>
            <a:r>
              <a:rPr lang="en-US" sz="1100" dirty="0">
                <a:solidFill>
                  <a:srgbClr val="2FD39B"/>
                </a:solidFill>
                <a:latin typeface="Courier New" pitchFamily="34" charset="0"/>
                <a:ea typeface="Courier New" pitchFamily="34" charset="-122"/>
                <a:cs typeface="Courier New" pitchFamily="34" charset="-120"/>
              </a:rPr>
              <a:t>charkha-hashhawks.centralindia.cloudapp.azure.com</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B0E0D"/>
          </a:solidFill>
          <a:ln/>
        </p:spPr>
      </p:sp>
      <p:sp>
        <p:nvSpPr>
          <p:cNvPr id="3" name="Text 1"/>
          <p:cNvSpPr txBox="1"/>
          <p:nvPr/>
        </p:nvSpPr>
        <p:spPr>
          <a:xfrm>
            <a:off x="640080" y="502920"/>
            <a:ext cx="5486400" cy="237744"/>
          </a:xfrm>
          <a:prstGeom prst="rect">
            <a:avLst/>
          </a:prstGeom>
          <a:noFill/>
          <a:ln/>
        </p:spPr>
        <p:txBody>
          <a:bodyPr wrap="square" lIns="0" tIns="0" rIns="0" bIns="0" rtlCol="0" anchor="ctr"/>
          <a:lstStyle/>
          <a:p>
            <a:pPr indent="0" marL="0">
              <a:buNone/>
            </a:pPr>
            <a:r>
              <a:rPr lang="en-US" sz="1000" b="1" spc="200" kern="0" dirty="0">
                <a:solidFill>
                  <a:srgbClr val="FFB02E"/>
                </a:solidFill>
                <a:latin typeface="Courier New" pitchFamily="34" charset="0"/>
                <a:ea typeface="Courier New" pitchFamily="34" charset="-122"/>
                <a:cs typeface="Courier New" pitchFamily="34" charset="-120"/>
              </a:rPr>
              <a:t>THE PROBLEM</a:t>
            </a:r>
            <a:endParaRPr lang="en-US" sz="1000" dirty="0"/>
          </a:p>
        </p:txBody>
      </p:sp>
      <p:sp>
        <p:nvSpPr>
          <p:cNvPr id="4" name="Text 2"/>
          <p:cNvSpPr txBox="1"/>
          <p:nvPr/>
        </p:nvSpPr>
        <p:spPr>
          <a:xfrm>
            <a:off x="640080" y="914400"/>
            <a:ext cx="10881360" cy="914400"/>
          </a:xfrm>
          <a:prstGeom prst="rect">
            <a:avLst/>
          </a:prstGeom>
          <a:noFill/>
          <a:ln/>
        </p:spPr>
        <p:txBody>
          <a:bodyPr wrap="square" lIns="0" tIns="0" rIns="0" bIns="0" rtlCol="0" anchor="ctr"/>
          <a:lstStyle/>
          <a:p>
            <a:pPr indent="0" marL="0">
              <a:buNone/>
            </a:pPr>
            <a:r>
              <a:rPr lang="en-US" sz="3800" b="1" dirty="0">
                <a:solidFill>
                  <a:srgbClr val="EEF2EE"/>
                </a:solidFill>
                <a:latin typeface="Cambria" pitchFamily="34" charset="0"/>
                <a:ea typeface="Cambria" pitchFamily="34" charset="-122"/>
                <a:cs typeface="Cambria" pitchFamily="34" charset="-120"/>
              </a:rPr>
              <a:t>Every winter, a solved problem burns anyway</a:t>
            </a:r>
            <a:endParaRPr lang="en-US" sz="3800" dirty="0"/>
          </a:p>
        </p:txBody>
      </p:sp>
      <p:sp>
        <p:nvSpPr>
          <p:cNvPr id="5" name="Shape 3"/>
          <p:cNvSpPr/>
          <p:nvPr/>
        </p:nvSpPr>
        <p:spPr>
          <a:xfrm>
            <a:off x="640080" y="2240280"/>
            <a:ext cx="3383280" cy="1828800"/>
          </a:xfrm>
          <a:prstGeom prst="roundRect">
            <a:avLst>
              <a:gd name="adj" fmla="val 4000"/>
            </a:avLst>
          </a:prstGeom>
          <a:solidFill>
            <a:srgbClr val="151B19"/>
          </a:solidFill>
          <a:ln/>
        </p:spPr>
      </p:sp>
      <p:sp>
        <p:nvSpPr>
          <p:cNvPr id="6" name="Text 4"/>
          <p:cNvSpPr txBox="1"/>
          <p:nvPr/>
        </p:nvSpPr>
        <p:spPr>
          <a:xfrm>
            <a:off x="914400" y="2468880"/>
            <a:ext cx="2834640" cy="731520"/>
          </a:xfrm>
          <a:prstGeom prst="rect">
            <a:avLst/>
          </a:prstGeom>
          <a:noFill/>
          <a:ln/>
        </p:spPr>
        <p:txBody>
          <a:bodyPr wrap="square" lIns="0" tIns="0" rIns="0" bIns="0" rtlCol="0" anchor="ctr"/>
          <a:lstStyle/>
          <a:p>
            <a:pPr indent="0" marL="0">
              <a:buNone/>
            </a:pPr>
            <a:r>
              <a:rPr lang="en-US" sz="3200" b="1" dirty="0">
                <a:solidFill>
                  <a:srgbClr val="FFB02E"/>
                </a:solidFill>
                <a:latin typeface="Cambria" pitchFamily="34" charset="0"/>
                <a:ea typeface="Cambria" pitchFamily="34" charset="-122"/>
                <a:cs typeface="Cambria" pitchFamily="34" charset="-120"/>
              </a:rPr>
              <a:t>~2 weeks</a:t>
            </a:r>
            <a:endParaRPr lang="en-US" sz="3200" dirty="0"/>
          </a:p>
        </p:txBody>
      </p:sp>
      <p:sp>
        <p:nvSpPr>
          <p:cNvPr id="7" name="Text 5"/>
          <p:cNvSpPr txBox="1"/>
          <p:nvPr/>
        </p:nvSpPr>
        <p:spPr>
          <a:xfrm>
            <a:off x="914400" y="3246120"/>
            <a:ext cx="2834640" cy="1097280"/>
          </a:xfrm>
          <a:prstGeom prst="rect">
            <a:avLst/>
          </a:prstGeom>
          <a:noFill/>
          <a:ln/>
        </p:spPr>
        <p:txBody>
          <a:bodyPr wrap="square" lIns="0" tIns="0" rIns="0" bIns="0" rtlCol="0" anchor="ctr"/>
          <a:lstStyle/>
          <a:p>
            <a:pPr indent="0" marL="0">
              <a:lnSpc>
                <a:spcPts val="1800"/>
              </a:lnSpc>
              <a:buNone/>
            </a:pPr>
            <a:r>
              <a:rPr lang="en-US" sz="1300" dirty="0">
                <a:solidFill>
                  <a:srgbClr val="9AA8A0"/>
                </a:solidFill>
                <a:latin typeface="Calibri" pitchFamily="34" charset="0"/>
                <a:ea typeface="Calibri" pitchFamily="34" charset="-122"/>
                <a:cs typeface="Calibri" pitchFamily="34" charset="-120"/>
              </a:rPr>
              <a:t>between harvest and the</a:t>
            </a:r>
            <a:endParaRPr lang="en-US" sz="1300" dirty="0"/>
          </a:p>
          <a:p>
            <a:pPr indent="0" marL="0">
              <a:lnSpc>
                <a:spcPts val="1800"/>
              </a:lnSpc>
              <a:buNone/>
            </a:pPr>
            <a:r>
              <a:rPr lang="en-US" sz="1300" dirty="0">
                <a:solidFill>
                  <a:srgbClr val="9AA8A0"/>
                </a:solidFill>
                <a:latin typeface="Calibri" pitchFamily="34" charset="0"/>
                <a:ea typeface="Calibri" pitchFamily="34" charset="-122"/>
                <a:cs typeface="Calibri" pitchFamily="34" charset="-120"/>
              </a:rPr>
              <a:t>next sowing window</a:t>
            </a:r>
            <a:endParaRPr lang="en-US" sz="1300" dirty="0"/>
          </a:p>
        </p:txBody>
      </p:sp>
      <p:sp>
        <p:nvSpPr>
          <p:cNvPr id="8" name="Shape 6"/>
          <p:cNvSpPr/>
          <p:nvPr/>
        </p:nvSpPr>
        <p:spPr>
          <a:xfrm>
            <a:off x="4389120" y="2240280"/>
            <a:ext cx="3383280" cy="1828800"/>
          </a:xfrm>
          <a:prstGeom prst="roundRect">
            <a:avLst>
              <a:gd name="adj" fmla="val 4000"/>
            </a:avLst>
          </a:prstGeom>
          <a:solidFill>
            <a:srgbClr val="151B19"/>
          </a:solidFill>
          <a:ln/>
        </p:spPr>
      </p:sp>
      <p:sp>
        <p:nvSpPr>
          <p:cNvPr id="9" name="Text 7"/>
          <p:cNvSpPr txBox="1"/>
          <p:nvPr/>
        </p:nvSpPr>
        <p:spPr>
          <a:xfrm>
            <a:off x="4663440" y="2468880"/>
            <a:ext cx="2834640" cy="731520"/>
          </a:xfrm>
          <a:prstGeom prst="rect">
            <a:avLst/>
          </a:prstGeom>
          <a:noFill/>
          <a:ln/>
        </p:spPr>
        <p:txBody>
          <a:bodyPr wrap="square" lIns="0" tIns="0" rIns="0" bIns="0" rtlCol="0" anchor="ctr"/>
          <a:lstStyle/>
          <a:p>
            <a:pPr indent="0" marL="0">
              <a:buNone/>
            </a:pPr>
            <a:r>
              <a:rPr lang="en-US" sz="3200" b="1" dirty="0">
                <a:solidFill>
                  <a:srgbClr val="FF5A52"/>
                </a:solidFill>
                <a:latin typeface="Cambria" pitchFamily="34" charset="0"/>
                <a:ea typeface="Cambria" pitchFamily="34" charset="-122"/>
                <a:cs typeface="Cambria" pitchFamily="34" charset="-120"/>
              </a:rPr>
              <a:t>Delhi</a:t>
            </a:r>
            <a:endParaRPr lang="en-US" sz="3200" dirty="0"/>
          </a:p>
        </p:txBody>
      </p:sp>
      <p:sp>
        <p:nvSpPr>
          <p:cNvPr id="10" name="Text 8"/>
          <p:cNvSpPr txBox="1"/>
          <p:nvPr/>
        </p:nvSpPr>
        <p:spPr>
          <a:xfrm>
            <a:off x="4663440" y="3246120"/>
            <a:ext cx="2834640" cy="1097280"/>
          </a:xfrm>
          <a:prstGeom prst="rect">
            <a:avLst/>
          </a:prstGeom>
          <a:noFill/>
          <a:ln/>
        </p:spPr>
        <p:txBody>
          <a:bodyPr wrap="square" lIns="0" tIns="0" rIns="0" bIns="0" rtlCol="0" anchor="ctr"/>
          <a:lstStyle/>
          <a:p>
            <a:pPr indent="0" marL="0">
              <a:lnSpc>
                <a:spcPts val="1800"/>
              </a:lnSpc>
              <a:buNone/>
            </a:pPr>
            <a:r>
              <a:rPr lang="en-US" sz="1300" dirty="0">
                <a:solidFill>
                  <a:srgbClr val="9AA8A0"/>
                </a:solidFill>
                <a:latin typeface="Calibri" pitchFamily="34" charset="0"/>
                <a:ea typeface="Calibri" pitchFamily="34" charset="-122"/>
                <a:cs typeface="Calibri" pitchFamily="34" charset="-120"/>
              </a:rPr>
              <a:t>breathes the result</a:t>
            </a:r>
            <a:endParaRPr lang="en-US" sz="1300" dirty="0"/>
          </a:p>
          <a:p>
            <a:pPr indent="0" marL="0">
              <a:lnSpc>
                <a:spcPts val="1800"/>
              </a:lnSpc>
              <a:buNone/>
            </a:pPr>
            <a:r>
              <a:rPr lang="en-US" sz="1300" dirty="0">
                <a:solidFill>
                  <a:srgbClr val="9AA8A0"/>
                </a:solidFill>
                <a:latin typeface="Calibri" pitchFamily="34" charset="0"/>
                <a:ea typeface="Calibri" pitchFamily="34" charset="-122"/>
                <a:cs typeface="Calibri" pitchFamily="34" charset="-120"/>
              </a:rPr>
              <a:t>every October</a:t>
            </a:r>
            <a:endParaRPr lang="en-US" sz="1300" dirty="0"/>
          </a:p>
        </p:txBody>
      </p:sp>
      <p:sp>
        <p:nvSpPr>
          <p:cNvPr id="11" name="Shape 9"/>
          <p:cNvSpPr/>
          <p:nvPr/>
        </p:nvSpPr>
        <p:spPr>
          <a:xfrm>
            <a:off x="8138160" y="2240280"/>
            <a:ext cx="3383280" cy="1828800"/>
          </a:xfrm>
          <a:prstGeom prst="roundRect">
            <a:avLst>
              <a:gd name="adj" fmla="val 4000"/>
            </a:avLst>
          </a:prstGeom>
          <a:solidFill>
            <a:srgbClr val="151B19"/>
          </a:solidFill>
          <a:ln/>
        </p:spPr>
      </p:sp>
      <p:sp>
        <p:nvSpPr>
          <p:cNvPr id="12" name="Text 10"/>
          <p:cNvSpPr txBox="1"/>
          <p:nvPr/>
        </p:nvSpPr>
        <p:spPr>
          <a:xfrm>
            <a:off x="8412480" y="2468880"/>
            <a:ext cx="2834640" cy="731520"/>
          </a:xfrm>
          <a:prstGeom prst="rect">
            <a:avLst/>
          </a:prstGeom>
          <a:noFill/>
          <a:ln/>
        </p:spPr>
        <p:txBody>
          <a:bodyPr wrap="square" lIns="0" tIns="0" rIns="0" bIns="0" rtlCol="0" anchor="ctr"/>
          <a:lstStyle/>
          <a:p>
            <a:pPr indent="0" marL="0">
              <a:buNone/>
            </a:pPr>
            <a:r>
              <a:rPr lang="en-US" sz="3200" b="1" dirty="0">
                <a:solidFill>
                  <a:srgbClr val="2FD39B"/>
                </a:solidFill>
                <a:latin typeface="Cambria" pitchFamily="34" charset="0"/>
                <a:ea typeface="Cambria" pitchFamily="34" charset="-122"/>
                <a:cs typeface="Cambria" pitchFamily="34" charset="-120"/>
              </a:rPr>
              <a:t>Rs 0</a:t>
            </a:r>
            <a:endParaRPr lang="en-US" sz="3200" dirty="0"/>
          </a:p>
        </p:txBody>
      </p:sp>
      <p:sp>
        <p:nvSpPr>
          <p:cNvPr id="13" name="Text 11"/>
          <p:cNvSpPr txBox="1"/>
          <p:nvPr/>
        </p:nvSpPr>
        <p:spPr>
          <a:xfrm>
            <a:off x="8412480" y="3246120"/>
            <a:ext cx="2834640" cy="1097280"/>
          </a:xfrm>
          <a:prstGeom prst="rect">
            <a:avLst/>
          </a:prstGeom>
          <a:noFill/>
          <a:ln/>
        </p:spPr>
        <p:txBody>
          <a:bodyPr wrap="square" lIns="0" tIns="0" rIns="0" bIns="0" rtlCol="0" anchor="ctr"/>
          <a:lstStyle/>
          <a:p>
            <a:pPr indent="0" marL="0">
              <a:lnSpc>
                <a:spcPts val="1800"/>
              </a:lnSpc>
              <a:buNone/>
            </a:pPr>
            <a:r>
              <a:rPr lang="en-US" sz="1300" dirty="0">
                <a:solidFill>
                  <a:srgbClr val="9AA8A0"/>
                </a:solidFill>
                <a:latin typeface="Calibri" pitchFamily="34" charset="0"/>
                <a:ea typeface="Calibri" pitchFamily="34" charset="-122"/>
                <a:cs typeface="Calibri" pitchFamily="34" charset="-120"/>
              </a:rPr>
              <a:t>is what a farmer earns</a:t>
            </a:r>
            <a:endParaRPr lang="en-US" sz="1300" dirty="0"/>
          </a:p>
          <a:p>
            <a:pPr indent="0" marL="0">
              <a:lnSpc>
                <a:spcPts val="1800"/>
              </a:lnSpc>
              <a:buNone/>
            </a:pPr>
            <a:r>
              <a:rPr lang="en-US" sz="1300" dirty="0">
                <a:solidFill>
                  <a:srgbClr val="9AA8A0"/>
                </a:solidFill>
                <a:latin typeface="Calibri" pitchFamily="34" charset="0"/>
                <a:ea typeface="Calibri" pitchFamily="34" charset="-122"/>
                <a:cs typeface="Calibri" pitchFamily="34" charset="-120"/>
              </a:rPr>
              <a:t>for not burning</a:t>
            </a:r>
            <a:endParaRPr lang="en-US" sz="1300" dirty="0"/>
          </a:p>
        </p:txBody>
      </p:sp>
      <p:sp>
        <p:nvSpPr>
          <p:cNvPr id="14" name="Text 12"/>
          <p:cNvSpPr txBox="1"/>
          <p:nvPr/>
        </p:nvSpPr>
        <p:spPr>
          <a:xfrm>
            <a:off x="640080" y="4434840"/>
            <a:ext cx="10241280" cy="1097280"/>
          </a:xfrm>
          <a:prstGeom prst="rect">
            <a:avLst/>
          </a:prstGeom>
          <a:noFill/>
          <a:ln/>
        </p:spPr>
        <p:txBody>
          <a:bodyPr wrap="square" lIns="0" tIns="0" rIns="0" bIns="0" rtlCol="0" anchor="ctr"/>
          <a:lstStyle/>
          <a:p>
            <a:pPr indent="0" marL="0">
              <a:lnSpc>
                <a:spcPts val="2500"/>
              </a:lnSpc>
              <a:buNone/>
            </a:pPr>
            <a:r>
              <a:rPr lang="en-US" sz="1550" dirty="0">
                <a:solidFill>
                  <a:srgbClr val="EEF2EE"/>
                </a:solidFill>
                <a:latin typeface="Calibri" pitchFamily="34" charset="0"/>
                <a:ea typeface="Calibri" pitchFamily="34" charset="-122"/>
                <a:cs typeface="Calibri" pitchFamily="34" charset="-120"/>
              </a:rPr>
              <a:t>Burning is not ignorance. It is the cheapest way to clear a field in the time available.</a:t>
            </a:r>
            <a:endParaRPr lang="en-US" sz="1550" dirty="0"/>
          </a:p>
          <a:p>
            <a:pPr indent="0" marL="0">
              <a:lnSpc>
                <a:spcPts val="2500"/>
              </a:lnSpc>
              <a:buNone/>
            </a:pPr>
            <a:r>
              <a:rPr lang="en-US" sz="1550" dirty="0">
                <a:solidFill>
                  <a:srgbClr val="EEF2EE"/>
                </a:solidFill>
                <a:latin typeface="Calibri" pitchFamily="34" charset="0"/>
                <a:ea typeface="Calibri" pitchFamily="34" charset="-122"/>
                <a:cs typeface="Calibri" pitchFamily="34" charset="-120"/>
              </a:rPr>
              <a:t>Biochar is the known alternative - it locks carbon into soil for centuries and should pay.</a:t>
            </a:r>
            <a:endParaRPr lang="en-US" sz="1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B0E0D"/>
          </a:solidFill>
          <a:ln/>
        </p:spPr>
      </p:sp>
      <p:sp>
        <p:nvSpPr>
          <p:cNvPr id="3" name="Text 1"/>
          <p:cNvSpPr txBox="1"/>
          <p:nvPr/>
        </p:nvSpPr>
        <p:spPr>
          <a:xfrm>
            <a:off x="640080" y="502920"/>
            <a:ext cx="5486400" cy="237744"/>
          </a:xfrm>
          <a:prstGeom prst="rect">
            <a:avLst/>
          </a:prstGeom>
          <a:noFill/>
          <a:ln/>
        </p:spPr>
        <p:txBody>
          <a:bodyPr wrap="square" lIns="0" tIns="0" rIns="0" bIns="0" rtlCol="0" anchor="ctr"/>
          <a:lstStyle/>
          <a:p>
            <a:pPr indent="0" marL="0">
              <a:buNone/>
            </a:pPr>
            <a:r>
              <a:rPr lang="en-US" sz="1000" b="1" spc="200" kern="0" dirty="0">
                <a:solidFill>
                  <a:srgbClr val="FFB02E"/>
                </a:solidFill>
                <a:latin typeface="Courier New" pitchFamily="34" charset="0"/>
                <a:ea typeface="Courier New" pitchFamily="34" charset="-122"/>
                <a:cs typeface="Courier New" pitchFamily="34" charset="-120"/>
              </a:rPr>
              <a:t>WHY IT DOESN'T HAPPEN</a:t>
            </a:r>
            <a:endParaRPr lang="en-US" sz="1000" dirty="0"/>
          </a:p>
        </p:txBody>
      </p:sp>
      <p:sp>
        <p:nvSpPr>
          <p:cNvPr id="4" name="Text 2"/>
          <p:cNvSpPr txBox="1"/>
          <p:nvPr/>
        </p:nvSpPr>
        <p:spPr>
          <a:xfrm>
            <a:off x="640080" y="914400"/>
            <a:ext cx="10881360" cy="914400"/>
          </a:xfrm>
          <a:prstGeom prst="rect">
            <a:avLst/>
          </a:prstGeom>
          <a:noFill/>
          <a:ln/>
        </p:spPr>
        <p:txBody>
          <a:bodyPr wrap="square" lIns="0" tIns="0" rIns="0" bIns="0" rtlCol="0" anchor="ctr"/>
          <a:lstStyle/>
          <a:p>
            <a:pPr indent="0" marL="0">
              <a:buNone/>
            </a:pPr>
            <a:r>
              <a:rPr lang="en-US" sz="3800" b="1" dirty="0">
                <a:solidFill>
                  <a:srgbClr val="EEF2EE"/>
                </a:solidFill>
                <a:latin typeface="Cambria" pitchFamily="34" charset="0"/>
                <a:ea typeface="Cambria" pitchFamily="34" charset="-122"/>
                <a:cs typeface="Cambria" pitchFamily="34" charset="-120"/>
              </a:rPr>
              <a:t>Nobody can prove it happened</a:t>
            </a:r>
            <a:endParaRPr lang="en-US" sz="3800" dirty="0"/>
          </a:p>
        </p:txBody>
      </p:sp>
      <p:sp>
        <p:nvSpPr>
          <p:cNvPr id="5" name="Shape 3"/>
          <p:cNvSpPr/>
          <p:nvPr/>
        </p:nvSpPr>
        <p:spPr>
          <a:xfrm>
            <a:off x="640080" y="2103120"/>
            <a:ext cx="5212080" cy="3108960"/>
          </a:xfrm>
          <a:prstGeom prst="roundRect">
            <a:avLst>
              <a:gd name="adj" fmla="val 2353"/>
            </a:avLst>
          </a:prstGeom>
          <a:solidFill>
            <a:srgbClr val="151B19"/>
          </a:solidFill>
          <a:ln/>
        </p:spPr>
      </p:sp>
      <p:sp>
        <p:nvSpPr>
          <p:cNvPr id="6" name="Text 4"/>
          <p:cNvSpPr txBox="1"/>
          <p:nvPr/>
        </p:nvSpPr>
        <p:spPr>
          <a:xfrm>
            <a:off x="914400" y="2331720"/>
            <a:ext cx="4663440" cy="320040"/>
          </a:xfrm>
          <a:prstGeom prst="rect">
            <a:avLst/>
          </a:prstGeom>
          <a:noFill/>
          <a:ln/>
        </p:spPr>
        <p:txBody>
          <a:bodyPr wrap="square" lIns="0" tIns="0" rIns="0" bIns="0" rtlCol="0" anchor="ctr"/>
          <a:lstStyle/>
          <a:p>
            <a:pPr indent="0" marL="0">
              <a:buNone/>
            </a:pPr>
            <a:r>
              <a:rPr lang="en-US" sz="1500" b="1" dirty="0">
                <a:solidFill>
                  <a:srgbClr val="FFB02E"/>
                </a:solidFill>
                <a:latin typeface="Calibri" pitchFamily="34" charset="0"/>
                <a:ea typeface="Calibri" pitchFamily="34" charset="-122"/>
                <a:cs typeface="Calibri" pitchFamily="34" charset="-120"/>
              </a:rPr>
              <a:t>What a buyer must believe</a:t>
            </a:r>
            <a:endParaRPr lang="en-US" sz="1500" dirty="0"/>
          </a:p>
        </p:txBody>
      </p:sp>
      <p:sp>
        <p:nvSpPr>
          <p:cNvPr id="7" name="Text 5"/>
          <p:cNvSpPr txBox="1"/>
          <p:nvPr/>
        </p:nvSpPr>
        <p:spPr>
          <a:xfrm>
            <a:off x="914400" y="2788920"/>
            <a:ext cx="4663440" cy="2103120"/>
          </a:xfrm>
          <a:prstGeom prst="rect">
            <a:avLst/>
          </a:prstGeom>
          <a:noFill/>
          <a:ln/>
        </p:spPr>
        <p:txBody>
          <a:bodyPr wrap="square" lIns="0" tIns="0" rIns="0" bIns="0" rtlCol="0" anchor="ctr"/>
          <a:lstStyle/>
          <a:p>
            <a:pPr marL="342900" indent="-342900">
              <a:spcAft>
                <a:spcPts val="1000"/>
              </a:spcAft>
              <a:buSzPct val="100000"/>
              <a:buChar char="•"/>
            </a:pPr>
            <a:r>
              <a:rPr lang="en-US" sz="1400" dirty="0">
                <a:solidFill>
                  <a:srgbClr val="EEF2EE"/>
                </a:solidFill>
                <a:latin typeface="Calibri" pitchFamily="34" charset="0"/>
                <a:ea typeface="Calibri" pitchFamily="34" charset="-122"/>
                <a:cs typeface="Calibri" pitchFamily="34" charset="-120"/>
              </a:rPr>
              <a:t>the residue was really diverted, not burned</a:t>
            </a:r>
            <a:endParaRPr lang="en-US" sz="1400" dirty="0"/>
          </a:p>
          <a:p>
            <a:pPr marL="342900" indent="-342900">
              <a:spcAft>
                <a:spcPts val="1000"/>
              </a:spcAft>
              <a:buSzPct val="100000"/>
              <a:buChar char="•"/>
            </a:pPr>
            <a:r>
              <a:rPr lang="en-US" sz="1400" dirty="0">
                <a:solidFill>
                  <a:srgbClr val="EEF2EE"/>
                </a:solidFill>
                <a:latin typeface="Calibri" pitchFamily="34" charset="0"/>
                <a:ea typeface="Calibri" pitchFamily="34" charset="-122"/>
                <a:cs typeface="Calibri" pitchFamily="34" charset="-120"/>
              </a:rPr>
              <a:t>the biochar was really produced</a:t>
            </a:r>
            <a:endParaRPr lang="en-US" sz="1400" dirty="0"/>
          </a:p>
          <a:p>
            <a:pPr marL="342900" indent="-342900">
              <a:spcAft>
                <a:spcPts val="1000"/>
              </a:spcAft>
              <a:buSzPct val="100000"/>
              <a:buChar char="•"/>
            </a:pPr>
            <a:r>
              <a:rPr lang="en-US" sz="1400" dirty="0">
                <a:solidFill>
                  <a:srgbClr val="EEF2EE"/>
                </a:solidFill>
                <a:latin typeface="Calibri" pitchFamily="34" charset="0"/>
                <a:ea typeface="Calibri" pitchFamily="34" charset="-122"/>
                <a:cs typeface="Calibri" pitchFamily="34" charset="-120"/>
              </a:rPr>
              <a:t>the batch was really the quality claimed</a:t>
            </a:r>
            <a:endParaRPr lang="en-US" sz="1400" dirty="0"/>
          </a:p>
          <a:p>
            <a:pPr marL="342900" indent="-342900">
              <a:spcAft>
                <a:spcPts val="1000"/>
              </a:spcAft>
              <a:buSzPct val="100000"/>
              <a:buChar char="•"/>
            </a:pPr>
            <a:r>
              <a:rPr lang="en-US" sz="1400" dirty="0">
                <a:solidFill>
                  <a:srgbClr val="EEF2EE"/>
                </a:solidFill>
                <a:latin typeface="Calibri" pitchFamily="34" charset="0"/>
                <a:ea typeface="Calibri" pitchFamily="34" charset="-122"/>
                <a:cs typeface="Calibri" pitchFamily="34" charset="-120"/>
              </a:rPr>
              <a:t>it was not already sold to someone else</a:t>
            </a:r>
            <a:endParaRPr lang="en-US" sz="1400" dirty="0"/>
          </a:p>
        </p:txBody>
      </p:sp>
      <p:sp>
        <p:nvSpPr>
          <p:cNvPr id="8" name="Shape 6"/>
          <p:cNvSpPr/>
          <p:nvPr/>
        </p:nvSpPr>
        <p:spPr>
          <a:xfrm>
            <a:off x="6309360" y="2103120"/>
            <a:ext cx="5212080" cy="3108960"/>
          </a:xfrm>
          <a:prstGeom prst="roundRect">
            <a:avLst>
              <a:gd name="adj" fmla="val 2353"/>
            </a:avLst>
          </a:prstGeom>
          <a:solidFill>
            <a:srgbClr val="1C2522"/>
          </a:solidFill>
          <a:ln/>
        </p:spPr>
      </p:sp>
      <p:sp>
        <p:nvSpPr>
          <p:cNvPr id="9" name="Text 7"/>
          <p:cNvSpPr txBox="1"/>
          <p:nvPr/>
        </p:nvSpPr>
        <p:spPr>
          <a:xfrm>
            <a:off x="6583680" y="2331720"/>
            <a:ext cx="4663440" cy="320040"/>
          </a:xfrm>
          <a:prstGeom prst="rect">
            <a:avLst/>
          </a:prstGeom>
          <a:noFill/>
          <a:ln/>
        </p:spPr>
        <p:txBody>
          <a:bodyPr wrap="square" lIns="0" tIns="0" rIns="0" bIns="0" rtlCol="0" anchor="ctr"/>
          <a:lstStyle/>
          <a:p>
            <a:pPr indent="0" marL="0">
              <a:buNone/>
            </a:pPr>
            <a:r>
              <a:rPr lang="en-US" sz="1500" b="1" dirty="0">
                <a:solidFill>
                  <a:srgbClr val="FF5A52"/>
                </a:solidFill>
                <a:latin typeface="Calibri" pitchFamily="34" charset="0"/>
                <a:ea typeface="Calibri" pitchFamily="34" charset="-122"/>
                <a:cs typeface="Calibri" pitchFamily="34" charset="-120"/>
              </a:rPr>
              <a:t>What they get today</a:t>
            </a:r>
            <a:endParaRPr lang="en-US" sz="1500" dirty="0"/>
          </a:p>
        </p:txBody>
      </p:sp>
      <p:sp>
        <p:nvSpPr>
          <p:cNvPr id="10" name="Text 8"/>
          <p:cNvSpPr txBox="1"/>
          <p:nvPr/>
        </p:nvSpPr>
        <p:spPr>
          <a:xfrm>
            <a:off x="6583680" y="2834640"/>
            <a:ext cx="4663440" cy="914400"/>
          </a:xfrm>
          <a:prstGeom prst="rect">
            <a:avLst/>
          </a:prstGeom>
          <a:noFill/>
          <a:ln/>
        </p:spPr>
        <p:txBody>
          <a:bodyPr wrap="square" lIns="0" tIns="0" rIns="0" bIns="0" rtlCol="0" anchor="ctr"/>
          <a:lstStyle/>
          <a:p>
            <a:pPr indent="0" marL="0">
              <a:lnSpc>
                <a:spcPts val="3300"/>
              </a:lnSpc>
              <a:buNone/>
            </a:pPr>
            <a:r>
              <a:rPr lang="en-US" sz="2600" b="1" dirty="0">
                <a:solidFill>
                  <a:srgbClr val="EEF2EE"/>
                </a:solidFill>
                <a:latin typeface="Cambria" pitchFamily="34" charset="0"/>
                <a:ea typeface="Cambria" pitchFamily="34" charset="-122"/>
                <a:cs typeface="Cambria" pitchFamily="34" charset="-120"/>
              </a:rPr>
              <a:t>A PDF certificate</a:t>
            </a:r>
            <a:endParaRPr lang="en-US" sz="2600" dirty="0"/>
          </a:p>
          <a:p>
            <a:pPr indent="0" marL="0">
              <a:lnSpc>
                <a:spcPts val="3300"/>
              </a:lnSpc>
              <a:buNone/>
            </a:pPr>
            <a:r>
              <a:rPr lang="en-US" sz="2600" b="1" dirty="0">
                <a:solidFill>
                  <a:srgbClr val="EEF2EE"/>
                </a:solidFill>
                <a:latin typeface="Cambria" pitchFamily="34" charset="0"/>
                <a:ea typeface="Cambria" pitchFamily="34" charset="-122"/>
                <a:cs typeface="Cambria" pitchFamily="34" charset="-120"/>
              </a:rPr>
              <a:t>and somebody's word.</a:t>
            </a:r>
            <a:endParaRPr lang="en-US" sz="2600" dirty="0"/>
          </a:p>
        </p:txBody>
      </p:sp>
      <p:sp>
        <p:nvSpPr>
          <p:cNvPr id="11" name="Text 9"/>
          <p:cNvSpPr txBox="1"/>
          <p:nvPr/>
        </p:nvSpPr>
        <p:spPr>
          <a:xfrm>
            <a:off x="6583680" y="4069080"/>
            <a:ext cx="4663440" cy="1097280"/>
          </a:xfrm>
          <a:prstGeom prst="rect">
            <a:avLst/>
          </a:prstGeom>
          <a:noFill/>
          <a:ln/>
        </p:spPr>
        <p:txBody>
          <a:bodyPr wrap="square" lIns="0" tIns="0" rIns="0" bIns="0" rtlCol="0" anchor="ctr"/>
          <a:lstStyle/>
          <a:p>
            <a:pPr indent="0" marL="0">
              <a:lnSpc>
                <a:spcPts val="1700"/>
              </a:lnSpc>
              <a:buNone/>
            </a:pPr>
            <a:r>
              <a:rPr lang="en-US" sz="1250" dirty="0">
                <a:solidFill>
                  <a:srgbClr val="9AA8A0"/>
                </a:solidFill>
                <a:latin typeface="Calibri" pitchFamily="34" charset="0"/>
                <a:ea typeface="Calibri" pitchFamily="34" charset="-122"/>
                <a:cs typeface="Calibri" pitchFamily="34" charset="-120"/>
              </a:rPr>
              <a:t>Double-counting is the defining fraud of voluntary carbon markets. The registry</a:t>
            </a:r>
            <a:endParaRPr lang="en-US" sz="1250" dirty="0"/>
          </a:p>
          <a:p>
            <a:pPr indent="0" marL="0">
              <a:lnSpc>
                <a:spcPts val="1700"/>
              </a:lnSpc>
              <a:buNone/>
            </a:pPr>
            <a:r>
              <a:rPr lang="en-US" sz="1250" dirty="0">
                <a:solidFill>
                  <a:srgbClr val="9AA8A0"/>
                </a:solidFill>
                <a:latin typeface="Calibri" pitchFamily="34" charset="0"/>
                <a:ea typeface="Calibri" pitchFamily="34" charset="-122"/>
                <a:cs typeface="Calibri" pitchFamily="34" charset="-120"/>
              </a:rPr>
              <a:t>and the auditor are usually the same commercial relationship.</a:t>
            </a:r>
            <a:endParaRPr lang="en-US" sz="1250" dirty="0"/>
          </a:p>
        </p:txBody>
      </p:sp>
      <p:sp>
        <p:nvSpPr>
          <p:cNvPr id="12" name="Text 10"/>
          <p:cNvSpPr txBox="1"/>
          <p:nvPr/>
        </p:nvSpPr>
        <p:spPr>
          <a:xfrm>
            <a:off x="640080" y="5486400"/>
            <a:ext cx="10881360" cy="457200"/>
          </a:xfrm>
          <a:prstGeom prst="rect">
            <a:avLst/>
          </a:prstGeom>
          <a:noFill/>
          <a:ln/>
        </p:spPr>
        <p:txBody>
          <a:bodyPr wrap="square" lIns="0" tIns="0" rIns="0" bIns="0" rtlCol="0" anchor="ctr"/>
          <a:lstStyle/>
          <a:p>
            <a:pPr indent="0" marL="0">
              <a:buNone/>
            </a:pPr>
            <a:r>
              <a:rPr lang="en-US" sz="2100" b="1" dirty="0">
                <a:solidFill>
                  <a:srgbClr val="2FD39B"/>
                </a:solidFill>
                <a:latin typeface="Cambria" pitchFamily="34" charset="0"/>
                <a:ea typeface="Cambria" pitchFamily="34" charset="-122"/>
                <a:cs typeface="Cambria" pitchFamily="34" charset="-120"/>
              </a:rPr>
              <a:t>The gap is not technology. It is verifiability.</a:t>
            </a: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B0E0D"/>
          </a:solidFill>
          <a:ln/>
        </p:spPr>
      </p:sp>
      <p:sp>
        <p:nvSpPr>
          <p:cNvPr id="3" name="Text 1"/>
          <p:cNvSpPr txBox="1"/>
          <p:nvPr/>
        </p:nvSpPr>
        <p:spPr>
          <a:xfrm>
            <a:off x="640080" y="502920"/>
            <a:ext cx="5486400" cy="237744"/>
          </a:xfrm>
          <a:prstGeom prst="rect">
            <a:avLst/>
          </a:prstGeom>
          <a:noFill/>
          <a:ln/>
        </p:spPr>
        <p:txBody>
          <a:bodyPr wrap="square" lIns="0" tIns="0" rIns="0" bIns="0" rtlCol="0" anchor="ctr"/>
          <a:lstStyle/>
          <a:p>
            <a:pPr indent="0" marL="0">
              <a:buNone/>
            </a:pPr>
            <a:r>
              <a:rPr lang="en-US" sz="1000" b="1" spc="200" kern="0" dirty="0">
                <a:solidFill>
                  <a:srgbClr val="FFB02E"/>
                </a:solidFill>
                <a:latin typeface="Courier New" pitchFamily="34" charset="0"/>
                <a:ea typeface="Courier New" pitchFamily="34" charset="-122"/>
                <a:cs typeface="Courier New" pitchFamily="34" charset="-120"/>
              </a:rPr>
              <a:t>WHAT WE BUILT</a:t>
            </a:r>
            <a:endParaRPr lang="en-US" sz="1000" dirty="0"/>
          </a:p>
        </p:txBody>
      </p:sp>
      <p:sp>
        <p:nvSpPr>
          <p:cNvPr id="4" name="Text 2"/>
          <p:cNvSpPr txBox="1"/>
          <p:nvPr/>
        </p:nvSpPr>
        <p:spPr>
          <a:xfrm>
            <a:off x="640080" y="914400"/>
            <a:ext cx="10881360" cy="914400"/>
          </a:xfrm>
          <a:prstGeom prst="rect">
            <a:avLst/>
          </a:prstGeom>
          <a:noFill/>
          <a:ln/>
        </p:spPr>
        <p:txBody>
          <a:bodyPr wrap="square" lIns="0" tIns="0" rIns="0" bIns="0" rtlCol="0" anchor="ctr"/>
          <a:lstStyle/>
          <a:p>
            <a:pPr indent="0" marL="0">
              <a:buNone/>
            </a:pPr>
            <a:r>
              <a:rPr lang="en-US" sz="3800" b="1" dirty="0">
                <a:solidFill>
                  <a:srgbClr val="EEF2EE"/>
                </a:solidFill>
                <a:latin typeface="Cambria" pitchFamily="34" charset="0"/>
                <a:ea typeface="Cambria" pitchFamily="34" charset="-122"/>
                <a:cs typeface="Cambria" pitchFamily="34" charset="-120"/>
              </a:rPr>
              <a:t>One task id, end to end</a:t>
            </a:r>
            <a:endParaRPr lang="en-US" sz="3800" dirty="0"/>
          </a:p>
        </p:txBody>
      </p:sp>
      <p:sp>
        <p:nvSpPr>
          <p:cNvPr id="5" name="Shape 3"/>
          <p:cNvSpPr/>
          <p:nvPr/>
        </p:nvSpPr>
        <p:spPr>
          <a:xfrm>
            <a:off x="640080" y="2103120"/>
            <a:ext cx="2011680" cy="2286000"/>
          </a:xfrm>
          <a:prstGeom prst="roundRect">
            <a:avLst>
              <a:gd name="adj" fmla="val 3636"/>
            </a:avLst>
          </a:prstGeom>
          <a:solidFill>
            <a:srgbClr val="151B19"/>
          </a:solidFill>
          <a:ln/>
        </p:spPr>
      </p:sp>
      <p:sp>
        <p:nvSpPr>
          <p:cNvPr id="6" name="Text 4"/>
          <p:cNvSpPr txBox="1"/>
          <p:nvPr/>
        </p:nvSpPr>
        <p:spPr>
          <a:xfrm>
            <a:off x="868680" y="2286000"/>
            <a:ext cx="1554480" cy="274320"/>
          </a:xfrm>
          <a:prstGeom prst="rect">
            <a:avLst/>
          </a:prstGeom>
          <a:noFill/>
          <a:ln/>
        </p:spPr>
        <p:txBody>
          <a:bodyPr wrap="square" lIns="0" tIns="0" rIns="0" bIns="0" rtlCol="0" anchor="ctr"/>
          <a:lstStyle/>
          <a:p>
            <a:pPr indent="0" marL="0">
              <a:buNone/>
            </a:pPr>
            <a:r>
              <a:rPr lang="en-US" sz="1200" b="1" dirty="0">
                <a:solidFill>
                  <a:srgbClr val="FFB02E"/>
                </a:solidFill>
                <a:latin typeface="Courier New" pitchFamily="34" charset="0"/>
                <a:ea typeface="Courier New" pitchFamily="34" charset="-122"/>
                <a:cs typeface="Courier New" pitchFamily="34" charset="-120"/>
              </a:rPr>
              <a:t>01</a:t>
            </a:r>
            <a:endParaRPr lang="en-US" sz="1200" dirty="0"/>
          </a:p>
        </p:txBody>
      </p:sp>
      <p:sp>
        <p:nvSpPr>
          <p:cNvPr id="7" name="Text 5"/>
          <p:cNvSpPr txBox="1"/>
          <p:nvPr/>
        </p:nvSpPr>
        <p:spPr>
          <a:xfrm>
            <a:off x="868680" y="2670048"/>
            <a:ext cx="1554480" cy="384048"/>
          </a:xfrm>
          <a:prstGeom prst="rect">
            <a:avLst/>
          </a:prstGeom>
          <a:noFill/>
          <a:ln/>
        </p:spPr>
        <p:txBody>
          <a:bodyPr wrap="square" lIns="0" tIns="0" rIns="0" bIns="0" rtlCol="0" anchor="ctr"/>
          <a:lstStyle/>
          <a:p>
            <a:pPr indent="0" marL="0">
              <a:buNone/>
            </a:pPr>
            <a:r>
              <a:rPr lang="en-US" sz="1900" b="1" dirty="0">
                <a:solidFill>
                  <a:srgbClr val="EEF2EE"/>
                </a:solidFill>
                <a:latin typeface="Cambria" pitchFamily="34" charset="0"/>
                <a:ea typeface="Cambria" pitchFamily="34" charset="-122"/>
                <a:cs typeface="Cambria" pitchFamily="34" charset="-120"/>
              </a:rPr>
              <a:t>Detect</a:t>
            </a:r>
            <a:endParaRPr lang="en-US" sz="1900" dirty="0"/>
          </a:p>
        </p:txBody>
      </p:sp>
      <p:sp>
        <p:nvSpPr>
          <p:cNvPr id="8" name="Text 6"/>
          <p:cNvSpPr txBox="1"/>
          <p:nvPr/>
        </p:nvSpPr>
        <p:spPr>
          <a:xfrm>
            <a:off x="868680" y="3154680"/>
            <a:ext cx="1645920" cy="1097280"/>
          </a:xfrm>
          <a:prstGeom prst="rect">
            <a:avLst/>
          </a:prstGeom>
          <a:noFill/>
          <a:ln/>
        </p:spPr>
        <p:txBody>
          <a:bodyPr wrap="square" lIns="0" tIns="0" rIns="0" bIns="0" rtlCol="0" anchor="ctr"/>
          <a:lstStyle/>
          <a:p>
            <a:pPr indent="0" marL="0">
              <a:lnSpc>
                <a:spcPts val="1500"/>
              </a:lnSpc>
              <a:buNone/>
            </a:pPr>
            <a:r>
              <a:rPr lang="en-US" sz="1150" dirty="0">
                <a:solidFill>
                  <a:srgbClr val="9AA8A0"/>
                </a:solidFill>
                <a:latin typeface="Calibri" pitchFamily="34" charset="0"/>
                <a:ea typeface="Calibri" pitchFamily="34" charset="-122"/>
                <a:cs typeface="Calibri" pitchFamily="34" charset="-120"/>
              </a:rPr>
              <a:t>NASA FIRMS</a:t>
            </a:r>
            <a:endParaRPr lang="en-US" sz="1150" dirty="0"/>
          </a:p>
          <a:p>
            <a:pPr indent="0" marL="0">
              <a:lnSpc>
                <a:spcPts val="1500"/>
              </a:lnSpc>
              <a:buNone/>
            </a:pPr>
            <a:r>
              <a:rPr lang="en-US" sz="1150" dirty="0">
                <a:solidFill>
                  <a:srgbClr val="9AA8A0"/>
                </a:solidFill>
                <a:latin typeface="Calibri" pitchFamily="34" charset="0"/>
                <a:ea typeface="Calibri" pitchFamily="34" charset="-122"/>
                <a:cs typeface="Calibri" pitchFamily="34" charset="-120"/>
              </a:rPr>
              <a:t>thermal satellite</a:t>
            </a:r>
            <a:endParaRPr lang="en-US" sz="1150" dirty="0"/>
          </a:p>
        </p:txBody>
      </p:sp>
      <p:sp>
        <p:nvSpPr>
          <p:cNvPr id="9" name="Shape 7"/>
          <p:cNvSpPr/>
          <p:nvPr/>
        </p:nvSpPr>
        <p:spPr>
          <a:xfrm>
            <a:off x="2871216" y="2103120"/>
            <a:ext cx="2011680" cy="2286000"/>
          </a:xfrm>
          <a:prstGeom prst="roundRect">
            <a:avLst>
              <a:gd name="adj" fmla="val 3636"/>
            </a:avLst>
          </a:prstGeom>
          <a:solidFill>
            <a:srgbClr val="151B19"/>
          </a:solidFill>
          <a:ln/>
        </p:spPr>
      </p:sp>
      <p:sp>
        <p:nvSpPr>
          <p:cNvPr id="10" name="Text 8"/>
          <p:cNvSpPr txBox="1"/>
          <p:nvPr/>
        </p:nvSpPr>
        <p:spPr>
          <a:xfrm>
            <a:off x="3099816" y="2286000"/>
            <a:ext cx="1554480" cy="274320"/>
          </a:xfrm>
          <a:prstGeom prst="rect">
            <a:avLst/>
          </a:prstGeom>
          <a:noFill/>
          <a:ln/>
        </p:spPr>
        <p:txBody>
          <a:bodyPr wrap="square" lIns="0" tIns="0" rIns="0" bIns="0" rtlCol="0" anchor="ctr"/>
          <a:lstStyle/>
          <a:p>
            <a:pPr indent="0" marL="0">
              <a:buNone/>
            </a:pPr>
            <a:r>
              <a:rPr lang="en-US" sz="1200" b="1" dirty="0">
                <a:solidFill>
                  <a:srgbClr val="FFB02E"/>
                </a:solidFill>
                <a:latin typeface="Courier New" pitchFamily="34" charset="0"/>
                <a:ea typeface="Courier New" pitchFamily="34" charset="-122"/>
                <a:cs typeface="Courier New" pitchFamily="34" charset="-120"/>
              </a:rPr>
              <a:t>02</a:t>
            </a:r>
            <a:endParaRPr lang="en-US" sz="1200" dirty="0"/>
          </a:p>
        </p:txBody>
      </p:sp>
      <p:sp>
        <p:nvSpPr>
          <p:cNvPr id="11" name="Text 9"/>
          <p:cNvSpPr txBox="1"/>
          <p:nvPr/>
        </p:nvSpPr>
        <p:spPr>
          <a:xfrm>
            <a:off x="3099816" y="2670048"/>
            <a:ext cx="1554480" cy="384048"/>
          </a:xfrm>
          <a:prstGeom prst="rect">
            <a:avLst/>
          </a:prstGeom>
          <a:noFill/>
          <a:ln/>
        </p:spPr>
        <p:txBody>
          <a:bodyPr wrap="square" lIns="0" tIns="0" rIns="0" bIns="0" rtlCol="0" anchor="ctr"/>
          <a:lstStyle/>
          <a:p>
            <a:pPr indent="0" marL="0">
              <a:buNone/>
            </a:pPr>
            <a:r>
              <a:rPr lang="en-US" sz="1900" b="1" dirty="0">
                <a:solidFill>
                  <a:srgbClr val="EEF2EE"/>
                </a:solidFill>
                <a:latin typeface="Cambria" pitchFamily="34" charset="0"/>
                <a:ea typeface="Cambria" pitchFamily="34" charset="-122"/>
                <a:cs typeface="Cambria" pitchFamily="34" charset="-120"/>
              </a:rPr>
              <a:t>Route</a:t>
            </a:r>
            <a:endParaRPr lang="en-US" sz="1900" dirty="0"/>
          </a:p>
        </p:txBody>
      </p:sp>
      <p:sp>
        <p:nvSpPr>
          <p:cNvPr id="12" name="Text 10"/>
          <p:cNvSpPr txBox="1"/>
          <p:nvPr/>
        </p:nvSpPr>
        <p:spPr>
          <a:xfrm>
            <a:off x="3099816" y="3154680"/>
            <a:ext cx="1645920" cy="1097280"/>
          </a:xfrm>
          <a:prstGeom prst="rect">
            <a:avLst/>
          </a:prstGeom>
          <a:noFill/>
          <a:ln/>
        </p:spPr>
        <p:txBody>
          <a:bodyPr wrap="square" lIns="0" tIns="0" rIns="0" bIns="0" rtlCol="0" anchor="ctr"/>
          <a:lstStyle/>
          <a:p>
            <a:pPr indent="0" marL="0">
              <a:lnSpc>
                <a:spcPts val="1500"/>
              </a:lnSpc>
              <a:buNone/>
            </a:pPr>
            <a:r>
              <a:rPr lang="en-US" sz="1150" dirty="0">
                <a:solidFill>
                  <a:srgbClr val="9AA8A0"/>
                </a:solidFill>
                <a:latin typeface="Calibri" pitchFamily="34" charset="0"/>
                <a:ea typeface="Calibri" pitchFamily="34" charset="-122"/>
                <a:cs typeface="Calibri" pitchFamily="34" charset="-120"/>
              </a:rPr>
              <a:t>nearest unit by</a:t>
            </a:r>
            <a:endParaRPr lang="en-US" sz="1150" dirty="0"/>
          </a:p>
          <a:p>
            <a:pPr indent="0" marL="0">
              <a:lnSpc>
                <a:spcPts val="1500"/>
              </a:lnSpc>
              <a:buNone/>
            </a:pPr>
            <a:r>
              <a:rPr lang="en-US" sz="1150" dirty="0">
                <a:solidFill>
                  <a:srgbClr val="9AA8A0"/>
                </a:solidFill>
                <a:latin typeface="Calibri" pitchFamily="34" charset="0"/>
                <a:ea typeface="Calibri" pitchFamily="34" charset="-122"/>
                <a:cs typeface="Calibri" pitchFamily="34" charset="-120"/>
              </a:rPr>
              <a:t>transport CO2e</a:t>
            </a:r>
            <a:endParaRPr lang="en-US" sz="1150" dirty="0"/>
          </a:p>
        </p:txBody>
      </p:sp>
      <p:sp>
        <p:nvSpPr>
          <p:cNvPr id="13" name="Shape 11"/>
          <p:cNvSpPr/>
          <p:nvPr/>
        </p:nvSpPr>
        <p:spPr>
          <a:xfrm>
            <a:off x="5102352" y="2103120"/>
            <a:ext cx="2011680" cy="2286000"/>
          </a:xfrm>
          <a:prstGeom prst="roundRect">
            <a:avLst>
              <a:gd name="adj" fmla="val 3636"/>
            </a:avLst>
          </a:prstGeom>
          <a:solidFill>
            <a:srgbClr val="151B19"/>
          </a:solidFill>
          <a:ln/>
        </p:spPr>
      </p:sp>
      <p:sp>
        <p:nvSpPr>
          <p:cNvPr id="14" name="Text 12"/>
          <p:cNvSpPr txBox="1"/>
          <p:nvPr/>
        </p:nvSpPr>
        <p:spPr>
          <a:xfrm>
            <a:off x="5330952" y="2286000"/>
            <a:ext cx="1554480" cy="274320"/>
          </a:xfrm>
          <a:prstGeom prst="rect">
            <a:avLst/>
          </a:prstGeom>
          <a:noFill/>
          <a:ln/>
        </p:spPr>
        <p:txBody>
          <a:bodyPr wrap="square" lIns="0" tIns="0" rIns="0" bIns="0" rtlCol="0" anchor="ctr"/>
          <a:lstStyle/>
          <a:p>
            <a:pPr indent="0" marL="0">
              <a:buNone/>
            </a:pPr>
            <a:r>
              <a:rPr lang="en-US" sz="1200" b="1" dirty="0">
                <a:solidFill>
                  <a:srgbClr val="2FD39B"/>
                </a:solidFill>
                <a:latin typeface="Courier New" pitchFamily="34" charset="0"/>
                <a:ea typeface="Courier New" pitchFamily="34" charset="-122"/>
                <a:cs typeface="Courier New" pitchFamily="34" charset="-120"/>
              </a:rPr>
              <a:t>03</a:t>
            </a:r>
            <a:endParaRPr lang="en-US" sz="1200" dirty="0"/>
          </a:p>
        </p:txBody>
      </p:sp>
      <p:sp>
        <p:nvSpPr>
          <p:cNvPr id="15" name="Text 13"/>
          <p:cNvSpPr txBox="1"/>
          <p:nvPr/>
        </p:nvSpPr>
        <p:spPr>
          <a:xfrm>
            <a:off x="5330952" y="2670048"/>
            <a:ext cx="1554480" cy="384048"/>
          </a:xfrm>
          <a:prstGeom prst="rect">
            <a:avLst/>
          </a:prstGeom>
          <a:noFill/>
          <a:ln/>
        </p:spPr>
        <p:txBody>
          <a:bodyPr wrap="square" lIns="0" tIns="0" rIns="0" bIns="0" rtlCol="0" anchor="ctr"/>
          <a:lstStyle/>
          <a:p>
            <a:pPr indent="0" marL="0">
              <a:buNone/>
            </a:pPr>
            <a:r>
              <a:rPr lang="en-US" sz="1900" b="1" dirty="0">
                <a:solidFill>
                  <a:srgbClr val="EEF2EE"/>
                </a:solidFill>
                <a:latin typeface="Cambria" pitchFamily="34" charset="0"/>
                <a:ea typeface="Cambria" pitchFamily="34" charset="-122"/>
                <a:cs typeface="Cambria" pitchFamily="34" charset="-120"/>
              </a:rPr>
              <a:t>Verify</a:t>
            </a:r>
            <a:endParaRPr lang="en-US" sz="1900" dirty="0"/>
          </a:p>
        </p:txBody>
      </p:sp>
      <p:sp>
        <p:nvSpPr>
          <p:cNvPr id="16" name="Text 14"/>
          <p:cNvSpPr txBox="1"/>
          <p:nvPr/>
        </p:nvSpPr>
        <p:spPr>
          <a:xfrm>
            <a:off x="5330952" y="3154680"/>
            <a:ext cx="1645920" cy="1097280"/>
          </a:xfrm>
          <a:prstGeom prst="rect">
            <a:avLst/>
          </a:prstGeom>
          <a:noFill/>
          <a:ln/>
        </p:spPr>
        <p:txBody>
          <a:bodyPr wrap="square" lIns="0" tIns="0" rIns="0" bIns="0" rtlCol="0" anchor="ctr"/>
          <a:lstStyle/>
          <a:p>
            <a:pPr indent="0" marL="0">
              <a:lnSpc>
                <a:spcPts val="1500"/>
              </a:lnSpc>
              <a:buNone/>
            </a:pPr>
            <a:r>
              <a:rPr lang="en-US" sz="1150" dirty="0">
                <a:solidFill>
                  <a:srgbClr val="9AA8A0"/>
                </a:solidFill>
                <a:latin typeface="Calibri" pitchFamily="34" charset="0"/>
                <a:ea typeface="Calibri" pitchFamily="34" charset="-122"/>
                <a:cs typeface="Calibri" pitchFamily="34" charset="-120"/>
              </a:rPr>
              <a:t>ONNX in the</a:t>
            </a:r>
            <a:endParaRPr lang="en-US" sz="1150" dirty="0"/>
          </a:p>
          <a:p>
            <a:pPr indent="0" marL="0">
              <a:lnSpc>
                <a:spcPts val="1500"/>
              </a:lnSpc>
              <a:buNone/>
            </a:pPr>
            <a:r>
              <a:rPr lang="en-US" sz="1150" dirty="0">
                <a:solidFill>
                  <a:srgbClr val="9AA8A0"/>
                </a:solidFill>
                <a:latin typeface="Calibri" pitchFamily="34" charset="0"/>
                <a:ea typeface="Calibri" pitchFamily="34" charset="-122"/>
                <a:cs typeface="Calibri" pitchFamily="34" charset="-120"/>
              </a:rPr>
              <a:t>phone browser</a:t>
            </a:r>
            <a:endParaRPr lang="en-US" sz="1150" dirty="0"/>
          </a:p>
        </p:txBody>
      </p:sp>
      <p:sp>
        <p:nvSpPr>
          <p:cNvPr id="17" name="Shape 15"/>
          <p:cNvSpPr/>
          <p:nvPr/>
        </p:nvSpPr>
        <p:spPr>
          <a:xfrm>
            <a:off x="7333488" y="2103120"/>
            <a:ext cx="2011680" cy="2286000"/>
          </a:xfrm>
          <a:prstGeom prst="roundRect">
            <a:avLst>
              <a:gd name="adj" fmla="val 3636"/>
            </a:avLst>
          </a:prstGeom>
          <a:solidFill>
            <a:srgbClr val="151B19"/>
          </a:solidFill>
          <a:ln/>
        </p:spPr>
      </p:sp>
      <p:sp>
        <p:nvSpPr>
          <p:cNvPr id="18" name="Text 16"/>
          <p:cNvSpPr txBox="1"/>
          <p:nvPr/>
        </p:nvSpPr>
        <p:spPr>
          <a:xfrm>
            <a:off x="7562088" y="2286000"/>
            <a:ext cx="1554480" cy="274320"/>
          </a:xfrm>
          <a:prstGeom prst="rect">
            <a:avLst/>
          </a:prstGeom>
          <a:noFill/>
          <a:ln/>
        </p:spPr>
        <p:txBody>
          <a:bodyPr wrap="square" lIns="0" tIns="0" rIns="0" bIns="0" rtlCol="0" anchor="ctr"/>
          <a:lstStyle/>
          <a:p>
            <a:pPr indent="0" marL="0">
              <a:buNone/>
            </a:pPr>
            <a:r>
              <a:rPr lang="en-US" sz="1200" b="1" dirty="0">
                <a:solidFill>
                  <a:srgbClr val="2FD39B"/>
                </a:solidFill>
                <a:latin typeface="Courier New" pitchFamily="34" charset="0"/>
                <a:ea typeface="Courier New" pitchFamily="34" charset="-122"/>
                <a:cs typeface="Courier New" pitchFamily="34" charset="-120"/>
              </a:rPr>
              <a:t>04</a:t>
            </a:r>
            <a:endParaRPr lang="en-US" sz="1200" dirty="0"/>
          </a:p>
        </p:txBody>
      </p:sp>
      <p:sp>
        <p:nvSpPr>
          <p:cNvPr id="19" name="Text 17"/>
          <p:cNvSpPr txBox="1"/>
          <p:nvPr/>
        </p:nvSpPr>
        <p:spPr>
          <a:xfrm>
            <a:off x="7562088" y="2670048"/>
            <a:ext cx="1554480" cy="384048"/>
          </a:xfrm>
          <a:prstGeom prst="rect">
            <a:avLst/>
          </a:prstGeom>
          <a:noFill/>
          <a:ln/>
        </p:spPr>
        <p:txBody>
          <a:bodyPr wrap="square" lIns="0" tIns="0" rIns="0" bIns="0" rtlCol="0" anchor="ctr"/>
          <a:lstStyle/>
          <a:p>
            <a:pPr indent="0" marL="0">
              <a:buNone/>
            </a:pPr>
            <a:r>
              <a:rPr lang="en-US" sz="1900" b="1" dirty="0">
                <a:solidFill>
                  <a:srgbClr val="EEF2EE"/>
                </a:solidFill>
                <a:latin typeface="Cambria" pitchFamily="34" charset="0"/>
                <a:ea typeface="Cambria" pitchFamily="34" charset="-122"/>
                <a:cs typeface="Cambria" pitchFamily="34" charset="-120"/>
              </a:rPr>
              <a:t>Issue</a:t>
            </a:r>
            <a:endParaRPr lang="en-US" sz="1900" dirty="0"/>
          </a:p>
        </p:txBody>
      </p:sp>
      <p:sp>
        <p:nvSpPr>
          <p:cNvPr id="20" name="Text 18"/>
          <p:cNvSpPr txBox="1"/>
          <p:nvPr/>
        </p:nvSpPr>
        <p:spPr>
          <a:xfrm>
            <a:off x="7562088" y="3154680"/>
            <a:ext cx="1645920" cy="1097280"/>
          </a:xfrm>
          <a:prstGeom prst="rect">
            <a:avLst/>
          </a:prstGeom>
          <a:noFill/>
          <a:ln/>
        </p:spPr>
        <p:txBody>
          <a:bodyPr wrap="square" lIns="0" tIns="0" rIns="0" bIns="0" rtlCol="0" anchor="ctr"/>
          <a:lstStyle/>
          <a:p>
            <a:pPr indent="0" marL="0">
              <a:lnSpc>
                <a:spcPts val="1500"/>
              </a:lnSpc>
              <a:buNone/>
            </a:pPr>
            <a:r>
              <a:rPr lang="en-US" sz="1150" dirty="0">
                <a:solidFill>
                  <a:srgbClr val="9AA8A0"/>
                </a:solidFill>
                <a:latin typeface="Calibri" pitchFamily="34" charset="0"/>
                <a:ea typeface="Calibri" pitchFamily="34" charset="-122"/>
                <a:cs typeface="Calibri" pitchFamily="34" charset="-120"/>
              </a:rPr>
              <a:t>W3C Verifiable</a:t>
            </a:r>
            <a:endParaRPr lang="en-US" sz="1150" dirty="0"/>
          </a:p>
          <a:p>
            <a:pPr indent="0" marL="0">
              <a:lnSpc>
                <a:spcPts val="1500"/>
              </a:lnSpc>
              <a:buNone/>
            </a:pPr>
            <a:r>
              <a:rPr lang="en-US" sz="1150" dirty="0">
                <a:solidFill>
                  <a:srgbClr val="9AA8A0"/>
                </a:solidFill>
                <a:latin typeface="Calibri" pitchFamily="34" charset="0"/>
                <a:ea typeface="Calibri" pitchFamily="34" charset="-122"/>
                <a:cs typeface="Calibri" pitchFamily="34" charset="-120"/>
              </a:rPr>
              <a:t>Credential</a:t>
            </a:r>
            <a:endParaRPr lang="en-US" sz="1150" dirty="0"/>
          </a:p>
        </p:txBody>
      </p:sp>
      <p:sp>
        <p:nvSpPr>
          <p:cNvPr id="21" name="Shape 19"/>
          <p:cNvSpPr/>
          <p:nvPr/>
        </p:nvSpPr>
        <p:spPr>
          <a:xfrm>
            <a:off x="9564624" y="2103120"/>
            <a:ext cx="2011680" cy="2286000"/>
          </a:xfrm>
          <a:prstGeom prst="roundRect">
            <a:avLst>
              <a:gd name="adj" fmla="val 3636"/>
            </a:avLst>
          </a:prstGeom>
          <a:solidFill>
            <a:srgbClr val="151B19"/>
          </a:solidFill>
          <a:ln/>
        </p:spPr>
      </p:sp>
      <p:sp>
        <p:nvSpPr>
          <p:cNvPr id="22" name="Text 20"/>
          <p:cNvSpPr txBox="1"/>
          <p:nvPr/>
        </p:nvSpPr>
        <p:spPr>
          <a:xfrm>
            <a:off x="9793224" y="2286000"/>
            <a:ext cx="1554480" cy="274320"/>
          </a:xfrm>
          <a:prstGeom prst="rect">
            <a:avLst/>
          </a:prstGeom>
          <a:noFill/>
          <a:ln/>
        </p:spPr>
        <p:txBody>
          <a:bodyPr wrap="square" lIns="0" tIns="0" rIns="0" bIns="0" rtlCol="0" anchor="ctr"/>
          <a:lstStyle/>
          <a:p>
            <a:pPr indent="0" marL="0">
              <a:buNone/>
            </a:pPr>
            <a:r>
              <a:rPr lang="en-US" sz="1200" b="1" dirty="0">
                <a:solidFill>
                  <a:srgbClr val="2FD39B"/>
                </a:solidFill>
                <a:latin typeface="Courier New" pitchFamily="34" charset="0"/>
                <a:ea typeface="Courier New" pitchFamily="34" charset="-122"/>
                <a:cs typeface="Courier New" pitchFamily="34" charset="-120"/>
              </a:rPr>
              <a:t>05</a:t>
            </a:r>
            <a:endParaRPr lang="en-US" sz="1200" dirty="0"/>
          </a:p>
        </p:txBody>
      </p:sp>
      <p:sp>
        <p:nvSpPr>
          <p:cNvPr id="23" name="Text 21"/>
          <p:cNvSpPr txBox="1"/>
          <p:nvPr/>
        </p:nvSpPr>
        <p:spPr>
          <a:xfrm>
            <a:off x="9793224" y="2670048"/>
            <a:ext cx="1554480" cy="384048"/>
          </a:xfrm>
          <a:prstGeom prst="rect">
            <a:avLst/>
          </a:prstGeom>
          <a:noFill/>
          <a:ln/>
        </p:spPr>
        <p:txBody>
          <a:bodyPr wrap="square" lIns="0" tIns="0" rIns="0" bIns="0" rtlCol="0" anchor="ctr"/>
          <a:lstStyle/>
          <a:p>
            <a:pPr indent="0" marL="0">
              <a:buNone/>
            </a:pPr>
            <a:r>
              <a:rPr lang="en-US" sz="1900" b="1" dirty="0">
                <a:solidFill>
                  <a:srgbClr val="EEF2EE"/>
                </a:solidFill>
                <a:latin typeface="Cambria" pitchFamily="34" charset="0"/>
                <a:ea typeface="Cambria" pitchFamily="34" charset="-122"/>
                <a:cs typeface="Cambria" pitchFamily="34" charset="-120"/>
              </a:rPr>
              <a:t>Retire</a:t>
            </a:r>
            <a:endParaRPr lang="en-US" sz="1900" dirty="0"/>
          </a:p>
        </p:txBody>
      </p:sp>
      <p:sp>
        <p:nvSpPr>
          <p:cNvPr id="24" name="Text 22"/>
          <p:cNvSpPr txBox="1"/>
          <p:nvPr/>
        </p:nvSpPr>
        <p:spPr>
          <a:xfrm>
            <a:off x="9793224" y="3154680"/>
            <a:ext cx="1645920" cy="1097280"/>
          </a:xfrm>
          <a:prstGeom prst="rect">
            <a:avLst/>
          </a:prstGeom>
          <a:noFill/>
          <a:ln/>
        </p:spPr>
        <p:txBody>
          <a:bodyPr wrap="square" lIns="0" tIns="0" rIns="0" bIns="0" rtlCol="0" anchor="ctr"/>
          <a:lstStyle/>
          <a:p>
            <a:pPr indent="0" marL="0">
              <a:lnSpc>
                <a:spcPts val="1500"/>
              </a:lnSpc>
              <a:buNone/>
            </a:pPr>
            <a:r>
              <a:rPr lang="en-US" sz="1150" dirty="0">
                <a:solidFill>
                  <a:srgbClr val="9AA8A0"/>
                </a:solidFill>
                <a:latin typeface="Calibri" pitchFamily="34" charset="0"/>
                <a:ea typeface="Calibri" pitchFamily="34" charset="-122"/>
                <a:cs typeface="Calibri" pitchFamily="34" charset="-120"/>
              </a:rPr>
              <a:t>status-list bit</a:t>
            </a:r>
            <a:endParaRPr lang="en-US" sz="1150" dirty="0"/>
          </a:p>
          <a:p>
            <a:pPr indent="0" marL="0">
              <a:lnSpc>
                <a:spcPts val="1500"/>
              </a:lnSpc>
              <a:buNone/>
            </a:pPr>
            <a:r>
              <a:rPr lang="en-US" sz="1150" dirty="0">
                <a:solidFill>
                  <a:srgbClr val="9AA8A0"/>
                </a:solidFill>
                <a:latin typeface="Calibri" pitchFamily="34" charset="0"/>
                <a:ea typeface="Calibri" pitchFamily="34" charset="-122"/>
                <a:cs typeface="Calibri" pitchFamily="34" charset="-120"/>
              </a:rPr>
              <a:t>flips, publicly</a:t>
            </a:r>
            <a:endParaRPr lang="en-US" sz="1150" dirty="0"/>
          </a:p>
        </p:txBody>
      </p:sp>
      <p:sp>
        <p:nvSpPr>
          <p:cNvPr id="25" name="Shape 23"/>
          <p:cNvSpPr/>
          <p:nvPr/>
        </p:nvSpPr>
        <p:spPr>
          <a:xfrm>
            <a:off x="640080" y="4709160"/>
            <a:ext cx="10881360" cy="1097280"/>
          </a:xfrm>
          <a:prstGeom prst="roundRect">
            <a:avLst>
              <a:gd name="adj" fmla="val 6667"/>
            </a:avLst>
          </a:prstGeom>
          <a:solidFill>
            <a:srgbClr val="1C2522"/>
          </a:solidFill>
          <a:ln/>
        </p:spPr>
      </p:sp>
      <p:sp>
        <p:nvSpPr>
          <p:cNvPr id="26" name="Text 24"/>
          <p:cNvSpPr txBox="1"/>
          <p:nvPr/>
        </p:nvSpPr>
        <p:spPr>
          <a:xfrm>
            <a:off x="914400" y="4873752"/>
            <a:ext cx="10332720" cy="320040"/>
          </a:xfrm>
          <a:prstGeom prst="rect">
            <a:avLst/>
          </a:prstGeom>
          <a:noFill/>
          <a:ln/>
        </p:spPr>
        <p:txBody>
          <a:bodyPr wrap="square" lIns="0" tIns="0" rIns="0" bIns="0" rtlCol="0" anchor="ctr"/>
          <a:lstStyle/>
          <a:p>
            <a:pPr indent="0" marL="0">
              <a:buNone/>
            </a:pPr>
            <a:r>
              <a:rPr lang="en-US" sz="1500" b="1" dirty="0">
                <a:solidFill>
                  <a:srgbClr val="EEF2EE"/>
                </a:solidFill>
                <a:latin typeface="Calibri" pitchFamily="34" charset="0"/>
                <a:ea typeface="Calibri" pitchFamily="34" charset="-122"/>
                <a:cs typeface="Calibri" pitchFamily="34" charset="-120"/>
              </a:rPr>
              <a:t>Every one of those five writes exactly one row to a hash-chained, append-only ledger.</a:t>
            </a:r>
            <a:endParaRPr lang="en-US" sz="1500" dirty="0"/>
          </a:p>
        </p:txBody>
      </p:sp>
      <p:sp>
        <p:nvSpPr>
          <p:cNvPr id="27" name="Text 25"/>
          <p:cNvSpPr txBox="1"/>
          <p:nvPr/>
        </p:nvSpPr>
        <p:spPr>
          <a:xfrm>
            <a:off x="914400" y="5257800"/>
            <a:ext cx="10332720" cy="320040"/>
          </a:xfrm>
          <a:prstGeom prst="rect">
            <a:avLst/>
          </a:prstGeom>
          <a:noFill/>
          <a:ln/>
        </p:spPr>
        <p:txBody>
          <a:bodyPr wrap="square" lIns="0" tIns="0" rIns="0" bIns="0" rtlCol="0" anchor="ctr"/>
          <a:lstStyle/>
          <a:p>
            <a:pPr indent="0" marL="0">
              <a:buNone/>
            </a:pPr>
            <a:r>
              <a:rPr lang="en-US" sz="1150" dirty="0">
                <a:solidFill>
                  <a:srgbClr val="2FD39B"/>
                </a:solidFill>
                <a:latin typeface="Courier New" pitchFamily="34" charset="0"/>
                <a:ea typeface="Courier New" pitchFamily="34" charset="-122"/>
                <a:cs typeface="Courier New" pitchFamily="34" charset="-120"/>
              </a:rPr>
              <a:t>hash = SHA256(previous hash + this record)   -   edit any row and the chain breaks at that row and every row after it.</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B0E0D"/>
          </a:solidFill>
          <a:ln/>
        </p:spPr>
      </p:sp>
      <p:sp>
        <p:nvSpPr>
          <p:cNvPr id="3" name="Text 1"/>
          <p:cNvSpPr txBox="1"/>
          <p:nvPr/>
        </p:nvSpPr>
        <p:spPr>
          <a:xfrm>
            <a:off x="640080" y="502920"/>
            <a:ext cx="5486400" cy="237744"/>
          </a:xfrm>
          <a:prstGeom prst="rect">
            <a:avLst/>
          </a:prstGeom>
          <a:noFill/>
          <a:ln/>
        </p:spPr>
        <p:txBody>
          <a:bodyPr wrap="square" lIns="0" tIns="0" rIns="0" bIns="0" rtlCol="0" anchor="ctr"/>
          <a:lstStyle/>
          <a:p>
            <a:pPr indent="0" marL="0">
              <a:buNone/>
            </a:pPr>
            <a:r>
              <a:rPr lang="en-US" sz="1000" b="1" spc="200" kern="0" dirty="0">
                <a:solidFill>
                  <a:srgbClr val="FFB02E"/>
                </a:solidFill>
                <a:latin typeface="Courier New" pitchFamily="34" charset="0"/>
                <a:ea typeface="Courier New" pitchFamily="34" charset="-122"/>
                <a:cs typeface="Courier New" pitchFamily="34" charset="-120"/>
              </a:rPr>
              <a:t>ARCHITECTURE</a:t>
            </a:r>
            <a:endParaRPr lang="en-US" sz="1000" dirty="0"/>
          </a:p>
        </p:txBody>
      </p:sp>
      <p:sp>
        <p:nvSpPr>
          <p:cNvPr id="4" name="Text 2"/>
          <p:cNvSpPr txBox="1"/>
          <p:nvPr/>
        </p:nvSpPr>
        <p:spPr>
          <a:xfrm>
            <a:off x="640080" y="914400"/>
            <a:ext cx="10881360" cy="914400"/>
          </a:xfrm>
          <a:prstGeom prst="rect">
            <a:avLst/>
          </a:prstGeom>
          <a:noFill/>
          <a:ln/>
        </p:spPr>
        <p:txBody>
          <a:bodyPr wrap="square" lIns="0" tIns="0" rIns="0" bIns="0" rtlCol="0" anchor="ctr"/>
          <a:lstStyle/>
          <a:p>
            <a:pPr indent="0" marL="0">
              <a:buNone/>
            </a:pPr>
            <a:r>
              <a:rPr lang="en-US" sz="3800" b="1" dirty="0">
                <a:solidFill>
                  <a:srgbClr val="EEF2EE"/>
                </a:solidFill>
                <a:latin typeface="Cambria" pitchFamily="34" charset="0"/>
                <a:ea typeface="Cambria" pitchFamily="34" charset="-122"/>
                <a:cs typeface="Cambria" pitchFamily="34" charset="-120"/>
              </a:rPr>
              <a:t>Five independent agents, one open protocol</a:t>
            </a:r>
            <a:endParaRPr lang="en-US" sz="3800" dirty="0"/>
          </a:p>
        </p:txBody>
      </p:sp>
      <p:sp>
        <p:nvSpPr>
          <p:cNvPr id="5" name="Shape 3"/>
          <p:cNvSpPr/>
          <p:nvPr/>
        </p:nvSpPr>
        <p:spPr>
          <a:xfrm>
            <a:off x="640080" y="2057400"/>
            <a:ext cx="2560320" cy="1691640"/>
          </a:xfrm>
          <a:prstGeom prst="roundRect">
            <a:avLst>
              <a:gd name="adj" fmla="val 4324"/>
            </a:avLst>
          </a:prstGeom>
          <a:solidFill>
            <a:srgbClr val="151B19"/>
          </a:solidFill>
          <a:ln/>
        </p:spPr>
      </p:sp>
      <p:sp>
        <p:nvSpPr>
          <p:cNvPr id="6" name="Text 4"/>
          <p:cNvSpPr txBox="1"/>
          <p:nvPr/>
        </p:nvSpPr>
        <p:spPr>
          <a:xfrm>
            <a:off x="868680" y="2249424"/>
            <a:ext cx="2103120" cy="320040"/>
          </a:xfrm>
          <a:prstGeom prst="rect">
            <a:avLst/>
          </a:prstGeom>
          <a:noFill/>
          <a:ln/>
        </p:spPr>
        <p:txBody>
          <a:bodyPr wrap="square" lIns="0" tIns="0" rIns="0" bIns="0" rtlCol="0" anchor="ctr"/>
          <a:lstStyle/>
          <a:p>
            <a:pPr indent="0" marL="0">
              <a:buNone/>
            </a:pPr>
            <a:r>
              <a:rPr lang="en-US" sz="1700" b="1" dirty="0">
                <a:solidFill>
                  <a:srgbClr val="EEF2EE"/>
                </a:solidFill>
                <a:latin typeface="Cambria" pitchFamily="34" charset="0"/>
                <a:ea typeface="Cambria" pitchFamily="34" charset="-122"/>
                <a:cs typeface="Cambria" pitchFamily="34" charset="-120"/>
              </a:rPr>
              <a:t>Producer</a:t>
            </a:r>
            <a:endParaRPr lang="en-US" sz="1700" dirty="0"/>
          </a:p>
        </p:txBody>
      </p:sp>
      <p:sp>
        <p:nvSpPr>
          <p:cNvPr id="7" name="Text 5"/>
          <p:cNvSpPr txBox="1"/>
          <p:nvPr/>
        </p:nvSpPr>
        <p:spPr>
          <a:xfrm>
            <a:off x="868680" y="2587752"/>
            <a:ext cx="2103120" cy="228600"/>
          </a:xfrm>
          <a:prstGeom prst="rect">
            <a:avLst/>
          </a:prstGeom>
          <a:noFill/>
          <a:ln/>
        </p:spPr>
        <p:txBody>
          <a:bodyPr wrap="square" lIns="0" tIns="0" rIns="0" bIns="0" rtlCol="0" anchor="ctr"/>
          <a:lstStyle/>
          <a:p>
            <a:pPr indent="0" marL="0">
              <a:buNone/>
            </a:pPr>
            <a:r>
              <a:rPr lang="en-US" sz="1100" dirty="0">
                <a:solidFill>
                  <a:srgbClr val="FFB02E"/>
                </a:solidFill>
                <a:latin typeface="Courier New" pitchFamily="34" charset="0"/>
                <a:ea typeface="Courier New" pitchFamily="34" charset="-122"/>
                <a:cs typeface="Courier New" pitchFamily="34" charset="-120"/>
              </a:rPr>
              <a:t>:4001</a:t>
            </a:r>
            <a:endParaRPr lang="en-US" sz="1100" dirty="0"/>
          </a:p>
        </p:txBody>
      </p:sp>
      <p:sp>
        <p:nvSpPr>
          <p:cNvPr id="8" name="Text 6"/>
          <p:cNvSpPr txBox="1"/>
          <p:nvPr/>
        </p:nvSpPr>
        <p:spPr>
          <a:xfrm>
            <a:off x="868680" y="2880360"/>
            <a:ext cx="2194560" cy="1097280"/>
          </a:xfrm>
          <a:prstGeom prst="rect">
            <a:avLst/>
          </a:prstGeom>
          <a:noFill/>
          <a:ln/>
        </p:spPr>
        <p:txBody>
          <a:bodyPr wrap="square" lIns="0" tIns="0" rIns="0" bIns="0" rtlCol="0" anchor="ctr"/>
          <a:lstStyle/>
          <a:p>
            <a:pPr indent="0" marL="0">
              <a:lnSpc>
                <a:spcPts val="1500"/>
              </a:lnSpc>
              <a:buNone/>
            </a:pPr>
            <a:r>
              <a:rPr lang="en-US" sz="1150" dirty="0">
                <a:solidFill>
                  <a:srgbClr val="9AA8A0"/>
                </a:solidFill>
                <a:latin typeface="Calibri" pitchFamily="34" charset="0"/>
                <a:ea typeface="Calibri" pitchFamily="34" charset="-122"/>
                <a:cs typeface="Calibri" pitchFamily="34" charset="-120"/>
              </a:rPr>
              <a:t>satellite ingest,</a:t>
            </a:r>
            <a:endParaRPr lang="en-US" sz="1150" dirty="0"/>
          </a:p>
          <a:p>
            <a:pPr indent="0" marL="0">
              <a:lnSpc>
                <a:spcPts val="1500"/>
              </a:lnSpc>
              <a:buNone/>
            </a:pPr>
            <a:r>
              <a:rPr lang="en-US" sz="1150" dirty="0">
                <a:solidFill>
                  <a:srgbClr val="9AA8A0"/>
                </a:solidFill>
                <a:latin typeface="Calibri" pitchFamily="34" charset="0"/>
                <a:ea typeface="Calibri" pitchFamily="34" charset="-122"/>
                <a:cs typeface="Calibri" pitchFamily="34" charset="-120"/>
              </a:rPr>
              <a:t>residue lots</a:t>
            </a:r>
            <a:endParaRPr lang="en-US" sz="1150" dirty="0"/>
          </a:p>
        </p:txBody>
      </p:sp>
      <p:sp>
        <p:nvSpPr>
          <p:cNvPr id="9" name="Shape 7"/>
          <p:cNvSpPr/>
          <p:nvPr/>
        </p:nvSpPr>
        <p:spPr>
          <a:xfrm>
            <a:off x="3419856" y="2057400"/>
            <a:ext cx="2560320" cy="1691640"/>
          </a:xfrm>
          <a:prstGeom prst="roundRect">
            <a:avLst>
              <a:gd name="adj" fmla="val 4324"/>
            </a:avLst>
          </a:prstGeom>
          <a:solidFill>
            <a:srgbClr val="151B19"/>
          </a:solidFill>
          <a:ln/>
        </p:spPr>
      </p:sp>
      <p:sp>
        <p:nvSpPr>
          <p:cNvPr id="10" name="Text 8"/>
          <p:cNvSpPr txBox="1"/>
          <p:nvPr/>
        </p:nvSpPr>
        <p:spPr>
          <a:xfrm>
            <a:off x="3648456" y="2249424"/>
            <a:ext cx="2103120" cy="320040"/>
          </a:xfrm>
          <a:prstGeom prst="rect">
            <a:avLst/>
          </a:prstGeom>
          <a:noFill/>
          <a:ln/>
        </p:spPr>
        <p:txBody>
          <a:bodyPr wrap="square" lIns="0" tIns="0" rIns="0" bIns="0" rtlCol="0" anchor="ctr"/>
          <a:lstStyle/>
          <a:p>
            <a:pPr indent="0" marL="0">
              <a:buNone/>
            </a:pPr>
            <a:r>
              <a:rPr lang="en-US" sz="1700" b="1" dirty="0">
                <a:solidFill>
                  <a:srgbClr val="EEF2EE"/>
                </a:solidFill>
                <a:latin typeface="Cambria" pitchFamily="34" charset="0"/>
                <a:ea typeface="Cambria" pitchFamily="34" charset="-122"/>
                <a:cs typeface="Cambria" pitchFamily="34" charset="-120"/>
              </a:rPr>
              <a:t>Matchmaker</a:t>
            </a:r>
            <a:endParaRPr lang="en-US" sz="1700" dirty="0"/>
          </a:p>
        </p:txBody>
      </p:sp>
      <p:sp>
        <p:nvSpPr>
          <p:cNvPr id="11" name="Text 9"/>
          <p:cNvSpPr txBox="1"/>
          <p:nvPr/>
        </p:nvSpPr>
        <p:spPr>
          <a:xfrm>
            <a:off x="3648456" y="2587752"/>
            <a:ext cx="2103120" cy="228600"/>
          </a:xfrm>
          <a:prstGeom prst="rect">
            <a:avLst/>
          </a:prstGeom>
          <a:noFill/>
          <a:ln/>
        </p:spPr>
        <p:txBody>
          <a:bodyPr wrap="square" lIns="0" tIns="0" rIns="0" bIns="0" rtlCol="0" anchor="ctr"/>
          <a:lstStyle/>
          <a:p>
            <a:pPr indent="0" marL="0">
              <a:buNone/>
            </a:pPr>
            <a:r>
              <a:rPr lang="en-US" sz="1100" dirty="0">
                <a:solidFill>
                  <a:srgbClr val="FFB02E"/>
                </a:solidFill>
                <a:latin typeface="Courier New" pitchFamily="34" charset="0"/>
                <a:ea typeface="Courier New" pitchFamily="34" charset="-122"/>
                <a:cs typeface="Courier New" pitchFamily="34" charset="-120"/>
              </a:rPr>
              <a:t>:4002</a:t>
            </a:r>
            <a:endParaRPr lang="en-US" sz="1100" dirty="0"/>
          </a:p>
        </p:txBody>
      </p:sp>
      <p:sp>
        <p:nvSpPr>
          <p:cNvPr id="12" name="Text 10"/>
          <p:cNvSpPr txBox="1"/>
          <p:nvPr/>
        </p:nvSpPr>
        <p:spPr>
          <a:xfrm>
            <a:off x="3648456" y="2880360"/>
            <a:ext cx="2194560" cy="1097280"/>
          </a:xfrm>
          <a:prstGeom prst="rect">
            <a:avLst/>
          </a:prstGeom>
          <a:noFill/>
          <a:ln/>
        </p:spPr>
        <p:txBody>
          <a:bodyPr wrap="square" lIns="0" tIns="0" rIns="0" bIns="0" rtlCol="0" anchor="ctr"/>
          <a:lstStyle/>
          <a:p>
            <a:pPr indent="0" marL="0">
              <a:lnSpc>
                <a:spcPts val="1500"/>
              </a:lnSpc>
              <a:buNone/>
            </a:pPr>
            <a:r>
              <a:rPr lang="en-US" sz="1150" dirty="0">
                <a:solidFill>
                  <a:srgbClr val="9AA8A0"/>
                </a:solidFill>
                <a:latin typeface="Calibri" pitchFamily="34" charset="0"/>
                <a:ea typeface="Calibri" pitchFamily="34" charset="-122"/>
                <a:cs typeface="Calibri" pitchFamily="34" charset="-120"/>
              </a:rPr>
              <a:t>lot to unit,</a:t>
            </a:r>
            <a:endParaRPr lang="en-US" sz="1150" dirty="0"/>
          </a:p>
          <a:p>
            <a:pPr indent="0" marL="0">
              <a:lnSpc>
                <a:spcPts val="1500"/>
              </a:lnSpc>
              <a:buNone/>
            </a:pPr>
            <a:r>
              <a:rPr lang="en-US" sz="1150" dirty="0">
                <a:solidFill>
                  <a:srgbClr val="9AA8A0"/>
                </a:solidFill>
                <a:latin typeface="Calibri" pitchFamily="34" charset="0"/>
                <a:ea typeface="Calibri" pitchFamily="34" charset="-122"/>
                <a:cs typeface="Calibri" pitchFamily="34" charset="-120"/>
              </a:rPr>
              <a:t>capacity + radius</a:t>
            </a:r>
            <a:endParaRPr lang="en-US" sz="1150" dirty="0"/>
          </a:p>
        </p:txBody>
      </p:sp>
      <p:sp>
        <p:nvSpPr>
          <p:cNvPr id="13" name="Shape 11"/>
          <p:cNvSpPr/>
          <p:nvPr/>
        </p:nvSpPr>
        <p:spPr>
          <a:xfrm>
            <a:off x="6199632" y="2057400"/>
            <a:ext cx="2560320" cy="1691640"/>
          </a:xfrm>
          <a:prstGeom prst="roundRect">
            <a:avLst>
              <a:gd name="adj" fmla="val 4324"/>
            </a:avLst>
          </a:prstGeom>
          <a:solidFill>
            <a:srgbClr val="151B19"/>
          </a:solidFill>
          <a:ln/>
        </p:spPr>
      </p:sp>
      <p:sp>
        <p:nvSpPr>
          <p:cNvPr id="14" name="Text 12"/>
          <p:cNvSpPr txBox="1"/>
          <p:nvPr/>
        </p:nvSpPr>
        <p:spPr>
          <a:xfrm>
            <a:off x="6428232" y="2249424"/>
            <a:ext cx="2103120" cy="320040"/>
          </a:xfrm>
          <a:prstGeom prst="rect">
            <a:avLst/>
          </a:prstGeom>
          <a:noFill/>
          <a:ln/>
        </p:spPr>
        <p:txBody>
          <a:bodyPr wrap="square" lIns="0" tIns="0" rIns="0" bIns="0" rtlCol="0" anchor="ctr"/>
          <a:lstStyle/>
          <a:p>
            <a:pPr indent="0" marL="0">
              <a:buNone/>
            </a:pPr>
            <a:r>
              <a:rPr lang="en-US" sz="1700" b="1" dirty="0">
                <a:solidFill>
                  <a:srgbClr val="EEF2EE"/>
                </a:solidFill>
                <a:latin typeface="Cambria" pitchFamily="34" charset="0"/>
                <a:ea typeface="Cambria" pitchFamily="34" charset="-122"/>
                <a:cs typeface="Cambria" pitchFamily="34" charset="-120"/>
              </a:rPr>
              <a:t>Verifier</a:t>
            </a:r>
            <a:endParaRPr lang="en-US" sz="1700" dirty="0"/>
          </a:p>
        </p:txBody>
      </p:sp>
      <p:sp>
        <p:nvSpPr>
          <p:cNvPr id="15" name="Text 13"/>
          <p:cNvSpPr txBox="1"/>
          <p:nvPr/>
        </p:nvSpPr>
        <p:spPr>
          <a:xfrm>
            <a:off x="6428232" y="2587752"/>
            <a:ext cx="2103120" cy="228600"/>
          </a:xfrm>
          <a:prstGeom prst="rect">
            <a:avLst/>
          </a:prstGeom>
          <a:noFill/>
          <a:ln/>
        </p:spPr>
        <p:txBody>
          <a:bodyPr wrap="square" lIns="0" tIns="0" rIns="0" bIns="0" rtlCol="0" anchor="ctr"/>
          <a:lstStyle/>
          <a:p>
            <a:pPr indent="0" marL="0">
              <a:buNone/>
            </a:pPr>
            <a:r>
              <a:rPr lang="en-US" sz="1100" dirty="0">
                <a:solidFill>
                  <a:srgbClr val="FFB02E"/>
                </a:solidFill>
                <a:latin typeface="Courier New" pitchFamily="34" charset="0"/>
                <a:ea typeface="Courier New" pitchFamily="34" charset="-122"/>
                <a:cs typeface="Courier New" pitchFamily="34" charset="-120"/>
              </a:rPr>
              <a:t>:4003</a:t>
            </a:r>
            <a:endParaRPr lang="en-US" sz="1100" dirty="0"/>
          </a:p>
        </p:txBody>
      </p:sp>
      <p:sp>
        <p:nvSpPr>
          <p:cNvPr id="16" name="Text 14"/>
          <p:cNvSpPr txBox="1"/>
          <p:nvPr/>
        </p:nvSpPr>
        <p:spPr>
          <a:xfrm>
            <a:off x="6428232" y="2880360"/>
            <a:ext cx="2194560" cy="1097280"/>
          </a:xfrm>
          <a:prstGeom prst="rect">
            <a:avLst/>
          </a:prstGeom>
          <a:noFill/>
          <a:ln/>
        </p:spPr>
        <p:txBody>
          <a:bodyPr wrap="square" lIns="0" tIns="0" rIns="0" bIns="0" rtlCol="0" anchor="ctr"/>
          <a:lstStyle/>
          <a:p>
            <a:pPr indent="0" marL="0">
              <a:lnSpc>
                <a:spcPts val="1500"/>
              </a:lnSpc>
              <a:buNone/>
            </a:pPr>
            <a:r>
              <a:rPr lang="en-US" sz="1150" dirty="0">
                <a:solidFill>
                  <a:srgbClr val="9AA8A0"/>
                </a:solidFill>
                <a:latin typeface="Calibri" pitchFamily="34" charset="0"/>
                <a:ea typeface="Calibri" pitchFamily="34" charset="-122"/>
                <a:cs typeface="Calibri" pitchFamily="34" charset="-120"/>
              </a:rPr>
              <a:t>ONNX scoring,</a:t>
            </a:r>
            <a:endParaRPr lang="en-US" sz="1150" dirty="0"/>
          </a:p>
          <a:p>
            <a:pPr indent="0" marL="0">
              <a:lnSpc>
                <a:spcPts val="1500"/>
              </a:lnSpc>
              <a:buNone/>
            </a:pPr>
            <a:r>
              <a:rPr lang="en-US" sz="1150" dirty="0">
                <a:solidFill>
                  <a:srgbClr val="9AA8A0"/>
                </a:solidFill>
                <a:latin typeface="Calibri" pitchFamily="34" charset="0"/>
                <a:ea typeface="Calibri" pitchFamily="34" charset="-122"/>
                <a:cs typeface="Calibri" pitchFamily="34" charset="-120"/>
              </a:rPr>
              <a:t>methodology checks</a:t>
            </a:r>
            <a:endParaRPr lang="en-US" sz="1150" dirty="0"/>
          </a:p>
        </p:txBody>
      </p:sp>
      <p:sp>
        <p:nvSpPr>
          <p:cNvPr id="17" name="Shape 15"/>
          <p:cNvSpPr/>
          <p:nvPr/>
        </p:nvSpPr>
        <p:spPr>
          <a:xfrm>
            <a:off x="8979408" y="2057400"/>
            <a:ext cx="2560320" cy="1691640"/>
          </a:xfrm>
          <a:prstGeom prst="roundRect">
            <a:avLst>
              <a:gd name="adj" fmla="val 4324"/>
            </a:avLst>
          </a:prstGeom>
          <a:solidFill>
            <a:srgbClr val="151B19"/>
          </a:solidFill>
          <a:ln/>
        </p:spPr>
      </p:sp>
      <p:sp>
        <p:nvSpPr>
          <p:cNvPr id="18" name="Text 16"/>
          <p:cNvSpPr txBox="1"/>
          <p:nvPr/>
        </p:nvSpPr>
        <p:spPr>
          <a:xfrm>
            <a:off x="9208008" y="2249424"/>
            <a:ext cx="2103120" cy="320040"/>
          </a:xfrm>
          <a:prstGeom prst="rect">
            <a:avLst/>
          </a:prstGeom>
          <a:noFill/>
          <a:ln/>
        </p:spPr>
        <p:txBody>
          <a:bodyPr wrap="square" lIns="0" tIns="0" rIns="0" bIns="0" rtlCol="0" anchor="ctr"/>
          <a:lstStyle/>
          <a:p>
            <a:pPr indent="0" marL="0">
              <a:buNone/>
            </a:pPr>
            <a:r>
              <a:rPr lang="en-US" sz="1700" b="1" dirty="0">
                <a:solidFill>
                  <a:srgbClr val="EEF2EE"/>
                </a:solidFill>
                <a:latin typeface="Cambria" pitchFamily="34" charset="0"/>
                <a:ea typeface="Cambria" pitchFamily="34" charset="-122"/>
                <a:cs typeface="Cambria" pitchFamily="34" charset="-120"/>
              </a:rPr>
              <a:t>Registry</a:t>
            </a:r>
            <a:endParaRPr lang="en-US" sz="1700" dirty="0"/>
          </a:p>
        </p:txBody>
      </p:sp>
      <p:sp>
        <p:nvSpPr>
          <p:cNvPr id="19" name="Text 17"/>
          <p:cNvSpPr txBox="1"/>
          <p:nvPr/>
        </p:nvSpPr>
        <p:spPr>
          <a:xfrm>
            <a:off x="9208008" y="2587752"/>
            <a:ext cx="2103120" cy="228600"/>
          </a:xfrm>
          <a:prstGeom prst="rect">
            <a:avLst/>
          </a:prstGeom>
          <a:noFill/>
          <a:ln/>
        </p:spPr>
        <p:txBody>
          <a:bodyPr wrap="square" lIns="0" tIns="0" rIns="0" bIns="0" rtlCol="0" anchor="ctr"/>
          <a:lstStyle/>
          <a:p>
            <a:pPr indent="0" marL="0">
              <a:buNone/>
            </a:pPr>
            <a:r>
              <a:rPr lang="en-US" sz="1100" dirty="0">
                <a:solidFill>
                  <a:srgbClr val="FFB02E"/>
                </a:solidFill>
                <a:latin typeface="Courier New" pitchFamily="34" charset="0"/>
                <a:ea typeface="Courier New" pitchFamily="34" charset="-122"/>
                <a:cs typeface="Courier New" pitchFamily="34" charset="-120"/>
              </a:rPr>
              <a:t>:4004</a:t>
            </a:r>
            <a:endParaRPr lang="en-US" sz="1100" dirty="0"/>
          </a:p>
        </p:txBody>
      </p:sp>
      <p:sp>
        <p:nvSpPr>
          <p:cNvPr id="20" name="Text 18"/>
          <p:cNvSpPr txBox="1"/>
          <p:nvPr/>
        </p:nvSpPr>
        <p:spPr>
          <a:xfrm>
            <a:off x="9208008" y="2880360"/>
            <a:ext cx="2194560" cy="1097280"/>
          </a:xfrm>
          <a:prstGeom prst="rect">
            <a:avLst/>
          </a:prstGeom>
          <a:noFill/>
          <a:ln/>
        </p:spPr>
        <p:txBody>
          <a:bodyPr wrap="square" lIns="0" tIns="0" rIns="0" bIns="0" rtlCol="0" anchor="ctr"/>
          <a:lstStyle/>
          <a:p>
            <a:pPr indent="0" marL="0">
              <a:lnSpc>
                <a:spcPts val="1500"/>
              </a:lnSpc>
              <a:buNone/>
            </a:pPr>
            <a:r>
              <a:rPr lang="en-US" sz="1150" dirty="0">
                <a:solidFill>
                  <a:srgbClr val="9AA8A0"/>
                </a:solidFill>
                <a:latin typeface="Calibri" pitchFamily="34" charset="0"/>
                <a:ea typeface="Calibri" pitchFamily="34" charset="-122"/>
                <a:cs typeface="Calibri" pitchFamily="34" charset="-120"/>
              </a:rPr>
              <a:t>carbon maths,</a:t>
            </a:r>
            <a:endParaRPr lang="en-US" sz="1150" dirty="0"/>
          </a:p>
          <a:p>
            <a:pPr indent="0" marL="0">
              <a:lnSpc>
                <a:spcPts val="1500"/>
              </a:lnSpc>
              <a:buNone/>
            </a:pPr>
            <a:r>
              <a:rPr lang="en-US" sz="1150" dirty="0">
                <a:solidFill>
                  <a:srgbClr val="9AA8A0"/>
                </a:solidFill>
                <a:latin typeface="Calibri" pitchFamily="34" charset="0"/>
                <a:ea typeface="Calibri" pitchFamily="34" charset="-122"/>
                <a:cs typeface="Calibri" pitchFamily="34" charset="-120"/>
              </a:rPr>
              <a:t>credentials</a:t>
            </a:r>
            <a:endParaRPr lang="en-US" sz="1150" dirty="0"/>
          </a:p>
        </p:txBody>
      </p:sp>
      <p:sp>
        <p:nvSpPr>
          <p:cNvPr id="21" name="Shape 19"/>
          <p:cNvSpPr/>
          <p:nvPr/>
        </p:nvSpPr>
        <p:spPr>
          <a:xfrm>
            <a:off x="640080" y="3977640"/>
            <a:ext cx="10881360" cy="914400"/>
          </a:xfrm>
          <a:prstGeom prst="roundRect">
            <a:avLst>
              <a:gd name="adj" fmla="val 8000"/>
            </a:avLst>
          </a:prstGeom>
          <a:solidFill>
            <a:srgbClr val="1C2522"/>
          </a:solidFill>
          <a:ln/>
        </p:spPr>
      </p:sp>
      <p:sp>
        <p:nvSpPr>
          <p:cNvPr id="22" name="Text 20"/>
          <p:cNvSpPr txBox="1"/>
          <p:nvPr/>
        </p:nvSpPr>
        <p:spPr>
          <a:xfrm>
            <a:off x="914400" y="4133088"/>
            <a:ext cx="7315200" cy="292608"/>
          </a:xfrm>
          <a:prstGeom prst="rect">
            <a:avLst/>
          </a:prstGeom>
          <a:noFill/>
          <a:ln/>
        </p:spPr>
        <p:txBody>
          <a:bodyPr wrap="square" lIns="0" tIns="0" rIns="0" bIns="0" rtlCol="0" anchor="ctr"/>
          <a:lstStyle/>
          <a:p>
            <a:pPr indent="0" marL="0">
              <a:buNone/>
            </a:pPr>
            <a:r>
              <a:rPr lang="en-US" sz="1700" b="1" dirty="0">
                <a:solidFill>
                  <a:srgbClr val="2FD39B"/>
                </a:solidFill>
                <a:latin typeface="Cambria" pitchFamily="34" charset="0"/>
                <a:ea typeface="Cambria" pitchFamily="34" charset="-122"/>
                <a:cs typeface="Cambria" pitchFamily="34" charset="-120"/>
              </a:rPr>
              <a:t>Saathi   ·   the fifth agent, the one a human talks to</a:t>
            </a:r>
            <a:endParaRPr lang="en-US" sz="1700" dirty="0"/>
          </a:p>
        </p:txBody>
      </p:sp>
      <p:sp>
        <p:nvSpPr>
          <p:cNvPr id="23" name="Text 21"/>
          <p:cNvSpPr txBox="1"/>
          <p:nvPr/>
        </p:nvSpPr>
        <p:spPr>
          <a:xfrm>
            <a:off x="914400" y="4462272"/>
            <a:ext cx="10058400" cy="292608"/>
          </a:xfrm>
          <a:prstGeom prst="rect">
            <a:avLst/>
          </a:prstGeom>
          <a:noFill/>
          <a:ln/>
        </p:spPr>
        <p:txBody>
          <a:bodyPr wrap="square" lIns="0" tIns="0" rIns="0" bIns="0" rtlCol="0" anchor="ctr"/>
          <a:lstStyle/>
          <a:p>
            <a:pPr indent="0" marL="0">
              <a:buNone/>
            </a:pPr>
            <a:r>
              <a:rPr lang="en-US" sz="1250" dirty="0">
                <a:solidFill>
                  <a:srgbClr val="9AA8A0"/>
                </a:solidFill>
                <a:latin typeface="Calibri" pitchFamily="34" charset="0"/>
                <a:ea typeface="Calibri" pitchFamily="34" charset="-122"/>
                <a:cs typeface="Calibri" pitchFamily="34" charset="-120"/>
              </a:rPr>
              <a:t>resolves a sentence in four languages, plans which agents answer it, calls them over A2A, and shows you the hops</a:t>
            </a:r>
            <a:endParaRPr lang="en-US" sz="1250" dirty="0"/>
          </a:p>
        </p:txBody>
      </p:sp>
      <p:sp>
        <p:nvSpPr>
          <p:cNvPr id="24" name="Text 22"/>
          <p:cNvSpPr txBox="1"/>
          <p:nvPr/>
        </p:nvSpPr>
        <p:spPr>
          <a:xfrm>
            <a:off x="640080" y="5120640"/>
            <a:ext cx="5303520" cy="292608"/>
          </a:xfrm>
          <a:prstGeom prst="rect">
            <a:avLst/>
          </a:prstGeom>
          <a:noFill/>
          <a:ln/>
        </p:spPr>
        <p:txBody>
          <a:bodyPr wrap="square" lIns="0" tIns="0" rIns="0" bIns="0" rtlCol="0" anchor="ctr"/>
          <a:lstStyle/>
          <a:p>
            <a:pPr indent="0" marL="0">
              <a:buNone/>
            </a:pPr>
            <a:r>
              <a:rPr lang="en-US" sz="1300" dirty="0">
                <a:solidFill>
                  <a:srgbClr val="2FD39B"/>
                </a:solidFill>
                <a:latin typeface="Calibri" pitchFamily="34" charset="0"/>
                <a:ea typeface="Calibri" pitchFamily="34" charset="-122"/>
                <a:cs typeface="Calibri" pitchFamily="34" charset="-120"/>
              </a:rPr>
              <a:t>- Google A2A protocol, official SDK</a:t>
            </a:r>
            <a:endParaRPr lang="en-US" sz="1300" dirty="0"/>
          </a:p>
        </p:txBody>
      </p:sp>
      <p:sp>
        <p:nvSpPr>
          <p:cNvPr id="25" name="Text 23"/>
          <p:cNvSpPr txBox="1"/>
          <p:nvPr/>
        </p:nvSpPr>
        <p:spPr>
          <a:xfrm>
            <a:off x="6126480" y="5120640"/>
            <a:ext cx="5303520" cy="292608"/>
          </a:xfrm>
          <a:prstGeom prst="rect">
            <a:avLst/>
          </a:prstGeom>
          <a:noFill/>
          <a:ln/>
        </p:spPr>
        <p:txBody>
          <a:bodyPr wrap="square" lIns="0" tIns="0" rIns="0" bIns="0" rtlCol="0" anchor="ctr"/>
          <a:lstStyle/>
          <a:p>
            <a:pPr indent="0" marL="0">
              <a:buNone/>
            </a:pPr>
            <a:r>
              <a:rPr lang="en-US" sz="1300" dirty="0">
                <a:solidFill>
                  <a:srgbClr val="2FD39B"/>
                </a:solidFill>
                <a:latin typeface="Calibri" pitchFamily="34" charset="0"/>
                <a:ea typeface="Calibri" pitchFamily="34" charset="-122"/>
                <a:cs typeface="Calibri" pitchFamily="34" charset="-120"/>
              </a:rPr>
              <a:t>- Each serves its own Agent Card</a:t>
            </a:r>
            <a:endParaRPr lang="en-US" sz="1300" dirty="0"/>
          </a:p>
        </p:txBody>
      </p:sp>
      <p:sp>
        <p:nvSpPr>
          <p:cNvPr id="26" name="Text 24"/>
          <p:cNvSpPr txBox="1"/>
          <p:nvPr/>
        </p:nvSpPr>
        <p:spPr>
          <a:xfrm>
            <a:off x="640080" y="5504688"/>
            <a:ext cx="5303520" cy="292608"/>
          </a:xfrm>
          <a:prstGeom prst="rect">
            <a:avLst/>
          </a:prstGeom>
          <a:noFill/>
          <a:ln/>
        </p:spPr>
        <p:txBody>
          <a:bodyPr wrap="square" lIns="0" tIns="0" rIns="0" bIns="0" rtlCol="0" anchor="ctr"/>
          <a:lstStyle/>
          <a:p>
            <a:pPr indent="0" marL="0">
              <a:buNone/>
            </a:pPr>
            <a:r>
              <a:rPr lang="en-US" sz="1300" dirty="0">
                <a:solidFill>
                  <a:srgbClr val="2FD39B"/>
                </a:solidFill>
                <a:latin typeface="Calibri" pitchFamily="34" charset="0"/>
                <a:ea typeface="Calibri" pitchFamily="34" charset="-122"/>
                <a:cs typeface="Calibri" pitchFamily="34" charset="-120"/>
              </a:rPr>
              <a:t>- Bearer token required - 401 without</a:t>
            </a:r>
            <a:endParaRPr lang="en-US" sz="1300" dirty="0"/>
          </a:p>
        </p:txBody>
      </p:sp>
      <p:sp>
        <p:nvSpPr>
          <p:cNvPr id="27" name="Text 25"/>
          <p:cNvSpPr txBox="1"/>
          <p:nvPr/>
        </p:nvSpPr>
        <p:spPr>
          <a:xfrm>
            <a:off x="6126480" y="5504688"/>
            <a:ext cx="5303520" cy="292608"/>
          </a:xfrm>
          <a:prstGeom prst="rect">
            <a:avLst/>
          </a:prstGeom>
          <a:noFill/>
          <a:ln/>
        </p:spPr>
        <p:txBody>
          <a:bodyPr wrap="square" lIns="0" tIns="0" rIns="0" bIns="0" rtlCol="0" anchor="ctr"/>
          <a:lstStyle/>
          <a:p>
            <a:pPr indent="0" marL="0">
              <a:buNone/>
            </a:pPr>
            <a:r>
              <a:rPr lang="en-US" sz="1300" dirty="0">
                <a:solidFill>
                  <a:srgbClr val="FFB02E"/>
                </a:solidFill>
                <a:latin typeface="Calibri" pitchFamily="34" charset="0"/>
                <a:ea typeface="Calibri" pitchFamily="34" charset="-122"/>
                <a:cs typeface="Calibri" pitchFamily="34" charset="-120"/>
              </a:rPr>
              <a:t>- No blockchain. No token. No gas.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151B19"/>
          </a:solidFill>
          <a:ln/>
        </p:spPr>
      </p:sp>
      <p:sp>
        <p:nvSpPr>
          <p:cNvPr id="3" name="Text 1"/>
          <p:cNvSpPr txBox="1"/>
          <p:nvPr/>
        </p:nvSpPr>
        <p:spPr>
          <a:xfrm>
            <a:off x="822960" y="1051560"/>
            <a:ext cx="5486400" cy="237744"/>
          </a:xfrm>
          <a:prstGeom prst="rect">
            <a:avLst/>
          </a:prstGeom>
          <a:noFill/>
          <a:ln/>
        </p:spPr>
        <p:txBody>
          <a:bodyPr wrap="square" lIns="0" tIns="0" rIns="0" bIns="0" rtlCol="0" anchor="ctr"/>
          <a:lstStyle/>
          <a:p>
            <a:pPr indent="0" marL="0">
              <a:buNone/>
            </a:pPr>
            <a:r>
              <a:rPr lang="en-US" sz="1000" b="1" spc="200" kern="0" dirty="0">
                <a:solidFill>
                  <a:srgbClr val="2FD39B"/>
                </a:solidFill>
                <a:latin typeface="Courier New" pitchFamily="34" charset="0"/>
                <a:ea typeface="Courier New" pitchFamily="34" charset="-122"/>
                <a:cs typeface="Courier New" pitchFamily="34" charset="-120"/>
              </a:rPr>
              <a:t>LIVE  ·  NOT A RECORDING</a:t>
            </a:r>
            <a:endParaRPr lang="en-US" sz="1000" dirty="0"/>
          </a:p>
        </p:txBody>
      </p:sp>
      <p:sp>
        <p:nvSpPr>
          <p:cNvPr id="4" name="Text 2"/>
          <p:cNvSpPr txBox="1"/>
          <p:nvPr/>
        </p:nvSpPr>
        <p:spPr>
          <a:xfrm>
            <a:off x="822960" y="1463040"/>
            <a:ext cx="7315200" cy="1188720"/>
          </a:xfrm>
          <a:prstGeom prst="rect">
            <a:avLst/>
          </a:prstGeom>
          <a:noFill/>
          <a:ln/>
        </p:spPr>
        <p:txBody>
          <a:bodyPr wrap="square" lIns="0" tIns="0" rIns="0" bIns="0" rtlCol="0" anchor="ctr"/>
          <a:lstStyle/>
          <a:p>
            <a:pPr indent="0" marL="0">
              <a:buNone/>
            </a:pPr>
            <a:r>
              <a:rPr lang="en-US" sz="6000" b="1" dirty="0">
                <a:solidFill>
                  <a:srgbClr val="EEF2EE"/>
                </a:solidFill>
                <a:latin typeface="Cambria" pitchFamily="34" charset="0"/>
                <a:ea typeface="Cambria" pitchFamily="34" charset="-122"/>
                <a:cs typeface="Cambria" pitchFamily="34" charset="-120"/>
              </a:rPr>
              <a:t>Demo</a:t>
            </a:r>
            <a:endParaRPr lang="en-US" sz="6000" dirty="0"/>
          </a:p>
        </p:txBody>
      </p:sp>
      <p:sp>
        <p:nvSpPr>
          <p:cNvPr id="5" name="Shape 3"/>
          <p:cNvSpPr/>
          <p:nvPr/>
        </p:nvSpPr>
        <p:spPr>
          <a:xfrm>
            <a:off x="822960" y="2880360"/>
            <a:ext cx="438912" cy="438912"/>
          </a:xfrm>
          <a:prstGeom prst="roundRect">
            <a:avLst>
              <a:gd name="adj" fmla="val 20833"/>
            </a:avLst>
          </a:prstGeom>
          <a:solidFill>
            <a:srgbClr val="1C2522"/>
          </a:solidFill>
          <a:ln/>
        </p:spPr>
      </p:sp>
      <p:sp>
        <p:nvSpPr>
          <p:cNvPr id="6" name="Text 4"/>
          <p:cNvSpPr txBox="1"/>
          <p:nvPr/>
        </p:nvSpPr>
        <p:spPr>
          <a:xfrm>
            <a:off x="822960" y="2953512"/>
            <a:ext cx="438912" cy="292608"/>
          </a:xfrm>
          <a:prstGeom prst="rect">
            <a:avLst/>
          </a:prstGeom>
          <a:noFill/>
          <a:ln/>
        </p:spPr>
        <p:txBody>
          <a:bodyPr wrap="square" lIns="0" tIns="0" rIns="0" bIns="0" rtlCol="0" anchor="ctr"/>
          <a:lstStyle/>
          <a:p>
            <a:pPr algn="ctr" indent="0" marL="0">
              <a:buNone/>
            </a:pPr>
            <a:r>
              <a:rPr lang="en-US" sz="1400" b="1" dirty="0">
                <a:solidFill>
                  <a:srgbClr val="FFB02E"/>
                </a:solidFill>
                <a:latin typeface="Courier New" pitchFamily="34" charset="0"/>
                <a:ea typeface="Courier New" pitchFamily="34" charset="-122"/>
                <a:cs typeface="Courier New" pitchFamily="34" charset="-120"/>
              </a:rPr>
              <a:t>1</a:t>
            </a:r>
            <a:endParaRPr lang="en-US" sz="1400" dirty="0"/>
          </a:p>
        </p:txBody>
      </p:sp>
      <p:sp>
        <p:nvSpPr>
          <p:cNvPr id="7" name="Text 5"/>
          <p:cNvSpPr txBox="1"/>
          <p:nvPr/>
        </p:nvSpPr>
        <p:spPr>
          <a:xfrm>
            <a:off x="1463040" y="2898648"/>
            <a:ext cx="3017520" cy="292608"/>
          </a:xfrm>
          <a:prstGeom prst="rect">
            <a:avLst/>
          </a:prstGeom>
          <a:noFill/>
          <a:ln/>
        </p:spPr>
        <p:txBody>
          <a:bodyPr wrap="square" lIns="0" tIns="0" rIns="0" bIns="0" rtlCol="0" anchor="ctr"/>
          <a:lstStyle/>
          <a:p>
            <a:pPr indent="0" marL="0">
              <a:buNone/>
            </a:pPr>
            <a:r>
              <a:rPr lang="en-US" sz="1700" b="1" dirty="0">
                <a:solidFill>
                  <a:srgbClr val="EEF2EE"/>
                </a:solidFill>
                <a:latin typeface="Cambria" pitchFamily="34" charset="0"/>
                <a:ea typeface="Cambria" pitchFamily="34" charset="-122"/>
                <a:cs typeface="Cambria" pitchFamily="34" charset="-120"/>
              </a:rPr>
              <a:t>Ask in Punjabi</a:t>
            </a:r>
            <a:endParaRPr lang="en-US" sz="1700" dirty="0"/>
          </a:p>
        </p:txBody>
      </p:sp>
      <p:sp>
        <p:nvSpPr>
          <p:cNvPr id="8" name="Text 6"/>
          <p:cNvSpPr txBox="1"/>
          <p:nvPr/>
        </p:nvSpPr>
        <p:spPr>
          <a:xfrm>
            <a:off x="4480560" y="2926080"/>
            <a:ext cx="6949440" cy="292608"/>
          </a:xfrm>
          <a:prstGeom prst="rect">
            <a:avLst/>
          </a:prstGeom>
          <a:noFill/>
          <a:ln/>
        </p:spPr>
        <p:txBody>
          <a:bodyPr wrap="square" lIns="0" tIns="0" rIns="0" bIns="0" rtlCol="0" anchor="ctr"/>
          <a:lstStyle/>
          <a:p>
            <a:pPr indent="0" marL="0">
              <a:buNone/>
            </a:pPr>
            <a:r>
              <a:rPr lang="en-US" sz="1300" dirty="0">
                <a:solidFill>
                  <a:srgbClr val="9AA8A0"/>
                </a:solidFill>
                <a:latin typeface="Calibri" pitchFamily="34" charset="0"/>
                <a:ea typeface="Calibri" pitchFamily="34" charset="-122"/>
                <a:cs typeface="Calibri" pitchFamily="34" charset="-120"/>
              </a:rPr>
              <a:t>Saathi answers, and names every agent it called</a:t>
            </a:r>
            <a:endParaRPr lang="en-US" sz="1300" dirty="0"/>
          </a:p>
        </p:txBody>
      </p:sp>
      <p:sp>
        <p:nvSpPr>
          <p:cNvPr id="9" name="Shape 7"/>
          <p:cNvSpPr/>
          <p:nvPr/>
        </p:nvSpPr>
        <p:spPr>
          <a:xfrm>
            <a:off x="822960" y="3639312"/>
            <a:ext cx="438912" cy="438912"/>
          </a:xfrm>
          <a:prstGeom prst="roundRect">
            <a:avLst>
              <a:gd name="adj" fmla="val 20833"/>
            </a:avLst>
          </a:prstGeom>
          <a:solidFill>
            <a:srgbClr val="1C2522"/>
          </a:solidFill>
          <a:ln/>
        </p:spPr>
      </p:sp>
      <p:sp>
        <p:nvSpPr>
          <p:cNvPr id="10" name="Text 8"/>
          <p:cNvSpPr txBox="1"/>
          <p:nvPr/>
        </p:nvSpPr>
        <p:spPr>
          <a:xfrm>
            <a:off x="822960" y="3712464"/>
            <a:ext cx="438912" cy="292608"/>
          </a:xfrm>
          <a:prstGeom prst="rect">
            <a:avLst/>
          </a:prstGeom>
          <a:noFill/>
          <a:ln/>
        </p:spPr>
        <p:txBody>
          <a:bodyPr wrap="square" lIns="0" tIns="0" rIns="0" bIns="0" rtlCol="0" anchor="ctr"/>
          <a:lstStyle/>
          <a:p>
            <a:pPr algn="ctr" indent="0" marL="0">
              <a:buNone/>
            </a:pPr>
            <a:r>
              <a:rPr lang="en-US" sz="1400" b="1" dirty="0">
                <a:solidFill>
                  <a:srgbClr val="FFB02E"/>
                </a:solidFill>
                <a:latin typeface="Courier New" pitchFamily="34" charset="0"/>
                <a:ea typeface="Courier New" pitchFamily="34" charset="-122"/>
                <a:cs typeface="Courier New" pitchFamily="34" charset="-120"/>
              </a:rPr>
              <a:t>2</a:t>
            </a:r>
            <a:endParaRPr lang="en-US" sz="1400" dirty="0"/>
          </a:p>
        </p:txBody>
      </p:sp>
      <p:sp>
        <p:nvSpPr>
          <p:cNvPr id="11" name="Text 9"/>
          <p:cNvSpPr txBox="1"/>
          <p:nvPr/>
        </p:nvSpPr>
        <p:spPr>
          <a:xfrm>
            <a:off x="1463040" y="3657600"/>
            <a:ext cx="3017520" cy="292608"/>
          </a:xfrm>
          <a:prstGeom prst="rect">
            <a:avLst/>
          </a:prstGeom>
          <a:noFill/>
          <a:ln/>
        </p:spPr>
        <p:txBody>
          <a:bodyPr wrap="square" lIns="0" tIns="0" rIns="0" bIns="0" rtlCol="0" anchor="ctr"/>
          <a:lstStyle/>
          <a:p>
            <a:pPr indent="0" marL="0">
              <a:buNone/>
            </a:pPr>
            <a:r>
              <a:rPr lang="en-US" sz="1700" b="1" dirty="0">
                <a:solidFill>
                  <a:srgbClr val="EEF2EE"/>
                </a:solidFill>
                <a:latin typeface="Cambria" pitchFamily="34" charset="0"/>
                <a:ea typeface="Cambria" pitchFamily="34" charset="-122"/>
                <a:cs typeface="Cambria" pitchFamily="34" charset="-120"/>
              </a:rPr>
              <a:t>Declare waste</a:t>
            </a:r>
            <a:endParaRPr lang="en-US" sz="1700" dirty="0"/>
          </a:p>
        </p:txBody>
      </p:sp>
      <p:sp>
        <p:nvSpPr>
          <p:cNvPr id="12" name="Text 10"/>
          <p:cNvSpPr txBox="1"/>
          <p:nvPr/>
        </p:nvSpPr>
        <p:spPr>
          <a:xfrm>
            <a:off x="4480560" y="3685032"/>
            <a:ext cx="6949440" cy="292608"/>
          </a:xfrm>
          <a:prstGeom prst="rect">
            <a:avLst/>
          </a:prstGeom>
          <a:noFill/>
          <a:ln/>
        </p:spPr>
        <p:txBody>
          <a:bodyPr wrap="square" lIns="0" tIns="0" rIns="0" bIns="0" rtlCol="0" anchor="ctr"/>
          <a:lstStyle/>
          <a:p>
            <a:pPr indent="0" marL="0">
              <a:buNone/>
            </a:pPr>
            <a:r>
              <a:rPr lang="en-US" sz="1300" dirty="0">
                <a:solidFill>
                  <a:srgbClr val="9AA8A0"/>
                </a:solidFill>
                <a:latin typeface="Calibri" pitchFamily="34" charset="0"/>
                <a:ea typeface="Calibri" pitchFamily="34" charset="-122"/>
                <a:cs typeface="Calibri" pitchFamily="34" charset="-120"/>
              </a:rPr>
              <a:t>a municipality's waste enters - it never burns, so no satellite sees it</a:t>
            </a:r>
            <a:endParaRPr lang="en-US" sz="1300" dirty="0"/>
          </a:p>
        </p:txBody>
      </p:sp>
      <p:sp>
        <p:nvSpPr>
          <p:cNvPr id="13" name="Shape 11"/>
          <p:cNvSpPr/>
          <p:nvPr/>
        </p:nvSpPr>
        <p:spPr>
          <a:xfrm>
            <a:off x="822960" y="4398264"/>
            <a:ext cx="438912" cy="438912"/>
          </a:xfrm>
          <a:prstGeom prst="roundRect">
            <a:avLst>
              <a:gd name="adj" fmla="val 20833"/>
            </a:avLst>
          </a:prstGeom>
          <a:solidFill>
            <a:srgbClr val="1C2522"/>
          </a:solidFill>
          <a:ln/>
        </p:spPr>
      </p:sp>
      <p:sp>
        <p:nvSpPr>
          <p:cNvPr id="14" name="Text 12"/>
          <p:cNvSpPr txBox="1"/>
          <p:nvPr/>
        </p:nvSpPr>
        <p:spPr>
          <a:xfrm>
            <a:off x="822960" y="4471416"/>
            <a:ext cx="438912" cy="292608"/>
          </a:xfrm>
          <a:prstGeom prst="rect">
            <a:avLst/>
          </a:prstGeom>
          <a:noFill/>
          <a:ln/>
        </p:spPr>
        <p:txBody>
          <a:bodyPr wrap="square" lIns="0" tIns="0" rIns="0" bIns="0" rtlCol="0" anchor="ctr"/>
          <a:lstStyle/>
          <a:p>
            <a:pPr algn="ctr" indent="0" marL="0">
              <a:buNone/>
            </a:pPr>
            <a:r>
              <a:rPr lang="en-US" sz="1400" b="1" dirty="0">
                <a:solidFill>
                  <a:srgbClr val="FFB02E"/>
                </a:solidFill>
                <a:latin typeface="Courier New" pitchFamily="34" charset="0"/>
                <a:ea typeface="Courier New" pitchFamily="34" charset="-122"/>
                <a:cs typeface="Courier New" pitchFamily="34" charset="-120"/>
              </a:rPr>
              <a:t>3</a:t>
            </a:r>
            <a:endParaRPr lang="en-US" sz="1400" dirty="0"/>
          </a:p>
        </p:txBody>
      </p:sp>
      <p:sp>
        <p:nvSpPr>
          <p:cNvPr id="15" name="Text 13"/>
          <p:cNvSpPr txBox="1"/>
          <p:nvPr/>
        </p:nvSpPr>
        <p:spPr>
          <a:xfrm>
            <a:off x="1463040" y="4416552"/>
            <a:ext cx="3017520" cy="292608"/>
          </a:xfrm>
          <a:prstGeom prst="rect">
            <a:avLst/>
          </a:prstGeom>
          <a:noFill/>
          <a:ln/>
        </p:spPr>
        <p:txBody>
          <a:bodyPr wrap="square" lIns="0" tIns="0" rIns="0" bIns="0" rtlCol="0" anchor="ctr"/>
          <a:lstStyle/>
          <a:p>
            <a:pPr indent="0" marL="0">
              <a:buNone/>
            </a:pPr>
            <a:r>
              <a:rPr lang="en-US" sz="1700" b="1" dirty="0">
                <a:solidFill>
                  <a:srgbClr val="EEF2EE"/>
                </a:solidFill>
                <a:latin typeface="Cambria" pitchFamily="34" charset="0"/>
                <a:ea typeface="Cambria" pitchFamily="34" charset="-122"/>
                <a:cs typeface="Cambria" pitchFamily="34" charset="-120"/>
              </a:rPr>
              <a:t>Issue a credit</a:t>
            </a:r>
            <a:endParaRPr lang="en-US" sz="1700" dirty="0"/>
          </a:p>
        </p:txBody>
      </p:sp>
      <p:sp>
        <p:nvSpPr>
          <p:cNvPr id="16" name="Text 14"/>
          <p:cNvSpPr txBox="1"/>
          <p:nvPr/>
        </p:nvSpPr>
        <p:spPr>
          <a:xfrm>
            <a:off x="4480560" y="4443984"/>
            <a:ext cx="6949440" cy="292608"/>
          </a:xfrm>
          <a:prstGeom prst="rect">
            <a:avLst/>
          </a:prstGeom>
          <a:noFill/>
          <a:ln/>
        </p:spPr>
        <p:txBody>
          <a:bodyPr wrap="square" lIns="0" tIns="0" rIns="0" bIns="0" rtlCol="0" anchor="ctr"/>
          <a:lstStyle/>
          <a:p>
            <a:pPr indent="0" marL="0">
              <a:buNone/>
            </a:pPr>
            <a:r>
              <a:rPr lang="en-US" sz="1300" dirty="0">
                <a:solidFill>
                  <a:srgbClr val="9AA8A0"/>
                </a:solidFill>
                <a:latin typeface="Calibri" pitchFamily="34" charset="0"/>
                <a:ea typeface="Calibri" pitchFamily="34" charset="-122"/>
                <a:cs typeface="Calibri" pitchFamily="34" charset="-120"/>
              </a:rPr>
              <a:t>field capture on this phone, then a credential</a:t>
            </a:r>
            <a:endParaRPr lang="en-US" sz="1300" dirty="0"/>
          </a:p>
        </p:txBody>
      </p:sp>
      <p:sp>
        <p:nvSpPr>
          <p:cNvPr id="17" name="Shape 15"/>
          <p:cNvSpPr/>
          <p:nvPr/>
        </p:nvSpPr>
        <p:spPr>
          <a:xfrm>
            <a:off x="822960" y="5157216"/>
            <a:ext cx="438912" cy="438912"/>
          </a:xfrm>
          <a:prstGeom prst="roundRect">
            <a:avLst>
              <a:gd name="adj" fmla="val 20833"/>
            </a:avLst>
          </a:prstGeom>
          <a:solidFill>
            <a:srgbClr val="1C2522"/>
          </a:solidFill>
          <a:ln/>
        </p:spPr>
      </p:sp>
      <p:sp>
        <p:nvSpPr>
          <p:cNvPr id="18" name="Text 16"/>
          <p:cNvSpPr txBox="1"/>
          <p:nvPr/>
        </p:nvSpPr>
        <p:spPr>
          <a:xfrm>
            <a:off x="822960" y="5230368"/>
            <a:ext cx="438912" cy="292608"/>
          </a:xfrm>
          <a:prstGeom prst="rect">
            <a:avLst/>
          </a:prstGeom>
          <a:noFill/>
          <a:ln/>
        </p:spPr>
        <p:txBody>
          <a:bodyPr wrap="square" lIns="0" tIns="0" rIns="0" bIns="0" rtlCol="0" anchor="ctr"/>
          <a:lstStyle/>
          <a:p>
            <a:pPr algn="ctr" indent="0" marL="0">
              <a:buNone/>
            </a:pPr>
            <a:r>
              <a:rPr lang="en-US" sz="1400" b="1" dirty="0">
                <a:solidFill>
                  <a:srgbClr val="FFB02E"/>
                </a:solidFill>
                <a:latin typeface="Courier New" pitchFamily="34" charset="0"/>
                <a:ea typeface="Courier New" pitchFamily="34" charset="-122"/>
                <a:cs typeface="Courier New" pitchFamily="34" charset="-120"/>
              </a:rPr>
              <a:t>4</a:t>
            </a:r>
            <a:endParaRPr lang="en-US" sz="1400" dirty="0"/>
          </a:p>
        </p:txBody>
      </p:sp>
      <p:sp>
        <p:nvSpPr>
          <p:cNvPr id="19" name="Text 17"/>
          <p:cNvSpPr txBox="1"/>
          <p:nvPr/>
        </p:nvSpPr>
        <p:spPr>
          <a:xfrm>
            <a:off x="1463040" y="5175504"/>
            <a:ext cx="3017520" cy="292608"/>
          </a:xfrm>
          <a:prstGeom prst="rect">
            <a:avLst/>
          </a:prstGeom>
          <a:noFill/>
          <a:ln/>
        </p:spPr>
        <p:txBody>
          <a:bodyPr wrap="square" lIns="0" tIns="0" rIns="0" bIns="0" rtlCol="0" anchor="ctr"/>
          <a:lstStyle/>
          <a:p>
            <a:pPr indent="0" marL="0">
              <a:buNone/>
            </a:pPr>
            <a:r>
              <a:rPr lang="en-US" sz="1700" b="1" dirty="0">
                <a:solidFill>
                  <a:srgbClr val="EEF2EE"/>
                </a:solidFill>
                <a:latin typeface="Cambria" pitchFamily="34" charset="0"/>
                <a:ea typeface="Cambria" pitchFamily="34" charset="-122"/>
                <a:cs typeface="Cambria" pitchFamily="34" charset="-120"/>
              </a:rPr>
              <a:t>Break the chain</a:t>
            </a:r>
            <a:endParaRPr lang="en-US" sz="1700" dirty="0"/>
          </a:p>
        </p:txBody>
      </p:sp>
      <p:sp>
        <p:nvSpPr>
          <p:cNvPr id="20" name="Text 18"/>
          <p:cNvSpPr txBox="1"/>
          <p:nvPr/>
        </p:nvSpPr>
        <p:spPr>
          <a:xfrm>
            <a:off x="4480560" y="5202936"/>
            <a:ext cx="6949440" cy="292608"/>
          </a:xfrm>
          <a:prstGeom prst="rect">
            <a:avLst/>
          </a:prstGeom>
          <a:noFill/>
          <a:ln/>
        </p:spPr>
        <p:txBody>
          <a:bodyPr wrap="square" lIns="0" tIns="0" rIns="0" bIns="0" rtlCol="0" anchor="ctr"/>
          <a:lstStyle/>
          <a:p>
            <a:pPr indent="0" marL="0">
              <a:buNone/>
            </a:pPr>
            <a:r>
              <a:rPr lang="en-US" sz="1300" dirty="0">
                <a:solidFill>
                  <a:srgbClr val="9AA8A0"/>
                </a:solidFill>
                <a:latin typeface="Calibri" pitchFamily="34" charset="0"/>
                <a:ea typeface="Calibri" pitchFamily="34" charset="-122"/>
                <a:cs typeface="Calibri" pitchFamily="34" charset="-120"/>
              </a:rPr>
              <a:t>edit one ledger row in front of you</a:t>
            </a:r>
            <a:endParaRPr lang="en-US" sz="1300" dirty="0"/>
          </a:p>
        </p:txBody>
      </p:sp>
      <p:sp>
        <p:nvSpPr>
          <p:cNvPr id="21" name="Text 19"/>
          <p:cNvSpPr txBox="1"/>
          <p:nvPr/>
        </p:nvSpPr>
        <p:spPr>
          <a:xfrm>
            <a:off x="822960" y="6080760"/>
            <a:ext cx="7315200" cy="274320"/>
          </a:xfrm>
          <a:prstGeom prst="rect">
            <a:avLst/>
          </a:prstGeom>
          <a:noFill/>
          <a:ln/>
        </p:spPr>
        <p:txBody>
          <a:bodyPr wrap="square" lIns="0" tIns="0" rIns="0" bIns="0" rtlCol="0" anchor="ctr"/>
          <a:lstStyle/>
          <a:p>
            <a:pPr indent="0" marL="0">
              <a:buNone/>
            </a:pPr>
            <a:r>
              <a:rPr lang="en-US" sz="1200" dirty="0">
                <a:solidFill>
                  <a:srgbClr val="2FD39B"/>
                </a:solidFill>
                <a:latin typeface="Courier New" pitchFamily="34" charset="0"/>
                <a:ea typeface="Courier New" pitchFamily="34" charset="-122"/>
                <a:cs typeface="Courier New" pitchFamily="34" charset="-120"/>
              </a:rPr>
              <a:t>charkha-hashhawks.centralindia.cloudapp.azure.com</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B0E0D"/>
          </a:solidFill>
          <a:ln/>
        </p:spPr>
      </p:sp>
      <p:sp>
        <p:nvSpPr>
          <p:cNvPr id="3" name="Text 1"/>
          <p:cNvSpPr txBox="1"/>
          <p:nvPr/>
        </p:nvSpPr>
        <p:spPr>
          <a:xfrm>
            <a:off x="640080" y="502920"/>
            <a:ext cx="5486400" cy="237744"/>
          </a:xfrm>
          <a:prstGeom prst="rect">
            <a:avLst/>
          </a:prstGeom>
          <a:noFill/>
          <a:ln/>
        </p:spPr>
        <p:txBody>
          <a:bodyPr wrap="square" lIns="0" tIns="0" rIns="0" bIns="0" rtlCol="0" anchor="ctr"/>
          <a:lstStyle/>
          <a:p>
            <a:pPr indent="0" marL="0">
              <a:buNone/>
            </a:pPr>
            <a:r>
              <a:rPr lang="en-US" sz="1000" b="1" spc="200" kern="0" dirty="0">
                <a:solidFill>
                  <a:srgbClr val="FFB02E"/>
                </a:solidFill>
                <a:latin typeface="Courier New" pitchFamily="34" charset="0"/>
                <a:ea typeface="Courier New" pitchFamily="34" charset="-122"/>
                <a:cs typeface="Courier New" pitchFamily="34" charset="-120"/>
              </a:rPr>
              <a:t>TRY TO CHEAT IT</a:t>
            </a:r>
            <a:endParaRPr lang="en-US" sz="1000" dirty="0"/>
          </a:p>
        </p:txBody>
      </p:sp>
      <p:sp>
        <p:nvSpPr>
          <p:cNvPr id="4" name="Text 2"/>
          <p:cNvSpPr txBox="1"/>
          <p:nvPr/>
        </p:nvSpPr>
        <p:spPr>
          <a:xfrm>
            <a:off x="640080" y="914400"/>
            <a:ext cx="10881360" cy="914400"/>
          </a:xfrm>
          <a:prstGeom prst="rect">
            <a:avLst/>
          </a:prstGeom>
          <a:noFill/>
          <a:ln/>
        </p:spPr>
        <p:txBody>
          <a:bodyPr wrap="square" lIns="0" tIns="0" rIns="0" bIns="0" rtlCol="0" anchor="ctr"/>
          <a:lstStyle/>
          <a:p>
            <a:pPr indent="0" marL="0">
              <a:buNone/>
            </a:pPr>
            <a:r>
              <a:rPr lang="en-US" sz="3800" b="1" dirty="0">
                <a:solidFill>
                  <a:srgbClr val="EEF2EE"/>
                </a:solidFill>
                <a:latin typeface="Cambria" pitchFamily="34" charset="0"/>
                <a:ea typeface="Cambria" pitchFamily="34" charset="-122"/>
                <a:cs typeface="Cambria" pitchFamily="34" charset="-120"/>
              </a:rPr>
              <a:t>Six attacks, on screen, against the live API</a:t>
            </a:r>
            <a:endParaRPr lang="en-US" sz="3800" dirty="0"/>
          </a:p>
        </p:txBody>
      </p:sp>
      <p:sp>
        <p:nvSpPr>
          <p:cNvPr id="5" name="Shape 3"/>
          <p:cNvSpPr/>
          <p:nvPr/>
        </p:nvSpPr>
        <p:spPr>
          <a:xfrm>
            <a:off x="640080" y="2057400"/>
            <a:ext cx="10881360" cy="512064"/>
          </a:xfrm>
          <a:prstGeom prst="roundRect">
            <a:avLst>
              <a:gd name="adj" fmla="val 10714"/>
            </a:avLst>
          </a:prstGeom>
          <a:solidFill>
            <a:srgbClr val="1C2522"/>
          </a:solidFill>
          <a:ln/>
        </p:spPr>
      </p:sp>
      <p:sp>
        <p:nvSpPr>
          <p:cNvPr id="6" name="Text 4"/>
          <p:cNvSpPr txBox="1"/>
          <p:nvPr/>
        </p:nvSpPr>
        <p:spPr>
          <a:xfrm>
            <a:off x="914400" y="2176272"/>
            <a:ext cx="5120640" cy="274320"/>
          </a:xfrm>
          <a:prstGeom prst="rect">
            <a:avLst/>
          </a:prstGeom>
          <a:noFill/>
          <a:ln/>
        </p:spPr>
        <p:txBody>
          <a:bodyPr wrap="square" lIns="0" tIns="0" rIns="0" bIns="0" rtlCol="0" anchor="ctr"/>
          <a:lstStyle/>
          <a:p>
            <a:pPr indent="0" marL="0">
              <a:buNone/>
            </a:pPr>
            <a:r>
              <a:rPr lang="en-US" sz="1400" dirty="0">
                <a:solidFill>
                  <a:srgbClr val="EEF2EE"/>
                </a:solidFill>
                <a:latin typeface="Calibri" pitchFamily="34" charset="0"/>
                <a:ea typeface="Calibri" pitchFamily="34" charset="-122"/>
                <a:cs typeface="Calibri" pitchFamily="34" charset="-120"/>
              </a:rPr>
              <a:t>Credit the same batch twice</a:t>
            </a:r>
            <a:endParaRPr lang="en-US" sz="1400" dirty="0"/>
          </a:p>
        </p:txBody>
      </p:sp>
      <p:sp>
        <p:nvSpPr>
          <p:cNvPr id="7" name="Text 5"/>
          <p:cNvSpPr txBox="1"/>
          <p:nvPr/>
        </p:nvSpPr>
        <p:spPr>
          <a:xfrm>
            <a:off x="6309360" y="2185416"/>
            <a:ext cx="5029200" cy="274320"/>
          </a:xfrm>
          <a:prstGeom prst="rect">
            <a:avLst/>
          </a:prstGeom>
          <a:noFill/>
          <a:ln/>
        </p:spPr>
        <p:txBody>
          <a:bodyPr wrap="square" lIns="0" tIns="0" rIns="0" bIns="0" rtlCol="0" anchor="ctr"/>
          <a:lstStyle/>
          <a:p>
            <a:pPr indent="0" marL="0">
              <a:buNone/>
            </a:pPr>
            <a:r>
              <a:rPr lang="en-US" sz="1250" dirty="0">
                <a:solidFill>
                  <a:srgbClr val="2FD39B"/>
                </a:solidFill>
                <a:latin typeface="Courier New" pitchFamily="34" charset="0"/>
                <a:ea typeface="Courier New" pitchFamily="34" charset="-122"/>
                <a:cs typeface="Courier New" pitchFamily="34" charset="-120"/>
              </a:rPr>
              <a:t>400  already credited</a:t>
            </a:r>
            <a:endParaRPr lang="en-US" sz="1250" dirty="0"/>
          </a:p>
        </p:txBody>
      </p:sp>
      <p:sp>
        <p:nvSpPr>
          <p:cNvPr id="8" name="Shape 6"/>
          <p:cNvSpPr/>
          <p:nvPr/>
        </p:nvSpPr>
        <p:spPr>
          <a:xfrm>
            <a:off x="640080" y="2660904"/>
            <a:ext cx="10881360" cy="512064"/>
          </a:xfrm>
          <a:prstGeom prst="roundRect">
            <a:avLst>
              <a:gd name="adj" fmla="val 10714"/>
            </a:avLst>
          </a:prstGeom>
          <a:solidFill>
            <a:srgbClr val="151B19"/>
          </a:solidFill>
          <a:ln/>
        </p:spPr>
      </p:sp>
      <p:sp>
        <p:nvSpPr>
          <p:cNvPr id="9" name="Text 7"/>
          <p:cNvSpPr txBox="1"/>
          <p:nvPr/>
        </p:nvSpPr>
        <p:spPr>
          <a:xfrm>
            <a:off x="914400" y="2779776"/>
            <a:ext cx="5120640" cy="274320"/>
          </a:xfrm>
          <a:prstGeom prst="rect">
            <a:avLst/>
          </a:prstGeom>
          <a:noFill/>
          <a:ln/>
        </p:spPr>
        <p:txBody>
          <a:bodyPr wrap="square" lIns="0" tIns="0" rIns="0" bIns="0" rtlCol="0" anchor="ctr"/>
          <a:lstStyle/>
          <a:p>
            <a:pPr indent="0" marL="0">
              <a:buNone/>
            </a:pPr>
            <a:r>
              <a:rPr lang="en-US" sz="1400" dirty="0">
                <a:solidFill>
                  <a:srgbClr val="EEF2EE"/>
                </a:solidFill>
                <a:latin typeface="Calibri" pitchFamily="34" charset="0"/>
                <a:ea typeface="Calibri" pitchFamily="34" charset="-122"/>
                <a:cs typeface="Calibri" pitchFamily="34" charset="-120"/>
              </a:rPr>
              <a:t>Send our own verdict</a:t>
            </a:r>
            <a:endParaRPr lang="en-US" sz="1400" dirty="0"/>
          </a:p>
        </p:txBody>
      </p:sp>
      <p:sp>
        <p:nvSpPr>
          <p:cNvPr id="10" name="Text 8"/>
          <p:cNvSpPr txBox="1"/>
          <p:nvPr/>
        </p:nvSpPr>
        <p:spPr>
          <a:xfrm>
            <a:off x="6309360" y="2788920"/>
            <a:ext cx="5029200" cy="274320"/>
          </a:xfrm>
          <a:prstGeom prst="rect">
            <a:avLst/>
          </a:prstGeom>
          <a:noFill/>
          <a:ln/>
        </p:spPr>
        <p:txBody>
          <a:bodyPr wrap="square" lIns="0" tIns="0" rIns="0" bIns="0" rtlCol="0" anchor="ctr"/>
          <a:lstStyle/>
          <a:p>
            <a:pPr indent="0" marL="0">
              <a:buNone/>
            </a:pPr>
            <a:r>
              <a:rPr lang="en-US" sz="1250" dirty="0">
                <a:solidFill>
                  <a:srgbClr val="2FD39B"/>
                </a:solidFill>
                <a:latin typeface="Courier New" pitchFamily="34" charset="0"/>
                <a:ea typeface="Courier New" pitchFamily="34" charset="-122"/>
                <a:cs typeface="Courier New" pitchFamily="34" charset="-120"/>
              </a:rPr>
              <a:t>400  the field cannot be expressed</a:t>
            </a:r>
            <a:endParaRPr lang="en-US" sz="1250" dirty="0"/>
          </a:p>
        </p:txBody>
      </p:sp>
      <p:sp>
        <p:nvSpPr>
          <p:cNvPr id="11" name="Shape 9"/>
          <p:cNvSpPr/>
          <p:nvPr/>
        </p:nvSpPr>
        <p:spPr>
          <a:xfrm>
            <a:off x="640080" y="3264408"/>
            <a:ext cx="10881360" cy="512064"/>
          </a:xfrm>
          <a:prstGeom prst="roundRect">
            <a:avLst>
              <a:gd name="adj" fmla="val 10714"/>
            </a:avLst>
          </a:prstGeom>
          <a:solidFill>
            <a:srgbClr val="1C2522"/>
          </a:solidFill>
          <a:ln/>
        </p:spPr>
      </p:sp>
      <p:sp>
        <p:nvSpPr>
          <p:cNvPr id="12" name="Text 10"/>
          <p:cNvSpPr txBox="1"/>
          <p:nvPr/>
        </p:nvSpPr>
        <p:spPr>
          <a:xfrm>
            <a:off x="914400" y="3383280"/>
            <a:ext cx="5120640" cy="274320"/>
          </a:xfrm>
          <a:prstGeom prst="rect">
            <a:avLst/>
          </a:prstGeom>
          <a:noFill/>
          <a:ln/>
        </p:spPr>
        <p:txBody>
          <a:bodyPr wrap="square" lIns="0" tIns="0" rIns="0" bIns="0" rtlCol="0" anchor="ctr"/>
          <a:lstStyle/>
          <a:p>
            <a:pPr indent="0" marL="0">
              <a:buNone/>
            </a:pPr>
            <a:r>
              <a:rPr lang="en-US" sz="1400" dirty="0">
                <a:solidFill>
                  <a:srgbClr val="EEF2EE"/>
                </a:solidFill>
                <a:latin typeface="Calibri" pitchFamily="34" charset="0"/>
                <a:ea typeface="Calibri" pitchFamily="34" charset="-122"/>
                <a:cs typeface="Calibri" pitchFamily="34" charset="-120"/>
              </a:rPr>
              <a:t>Call an agent with no token</a:t>
            </a:r>
            <a:endParaRPr lang="en-US" sz="1400" dirty="0"/>
          </a:p>
        </p:txBody>
      </p:sp>
      <p:sp>
        <p:nvSpPr>
          <p:cNvPr id="13" name="Text 11"/>
          <p:cNvSpPr txBox="1"/>
          <p:nvPr/>
        </p:nvSpPr>
        <p:spPr>
          <a:xfrm>
            <a:off x="6309360" y="3392424"/>
            <a:ext cx="5029200" cy="274320"/>
          </a:xfrm>
          <a:prstGeom prst="rect">
            <a:avLst/>
          </a:prstGeom>
          <a:noFill/>
          <a:ln/>
        </p:spPr>
        <p:txBody>
          <a:bodyPr wrap="square" lIns="0" tIns="0" rIns="0" bIns="0" rtlCol="0" anchor="ctr"/>
          <a:lstStyle/>
          <a:p>
            <a:pPr indent="0" marL="0">
              <a:buNone/>
            </a:pPr>
            <a:r>
              <a:rPr lang="en-US" sz="1250" dirty="0">
                <a:solidFill>
                  <a:srgbClr val="2FD39B"/>
                </a:solidFill>
                <a:latin typeface="Courier New" pitchFamily="34" charset="0"/>
                <a:ea typeface="Courier New" pitchFamily="34" charset="-122"/>
                <a:cs typeface="Courier New" pitchFamily="34" charset="-120"/>
              </a:rPr>
              <a:t>401  unauthenticated</a:t>
            </a:r>
            <a:endParaRPr lang="en-US" sz="1250" dirty="0"/>
          </a:p>
        </p:txBody>
      </p:sp>
      <p:sp>
        <p:nvSpPr>
          <p:cNvPr id="14" name="Shape 12"/>
          <p:cNvSpPr/>
          <p:nvPr/>
        </p:nvSpPr>
        <p:spPr>
          <a:xfrm>
            <a:off x="640080" y="3867912"/>
            <a:ext cx="10881360" cy="512064"/>
          </a:xfrm>
          <a:prstGeom prst="roundRect">
            <a:avLst>
              <a:gd name="adj" fmla="val 10714"/>
            </a:avLst>
          </a:prstGeom>
          <a:solidFill>
            <a:srgbClr val="151B19"/>
          </a:solidFill>
          <a:ln/>
        </p:spPr>
      </p:sp>
      <p:sp>
        <p:nvSpPr>
          <p:cNvPr id="15" name="Text 13"/>
          <p:cNvSpPr txBox="1"/>
          <p:nvPr/>
        </p:nvSpPr>
        <p:spPr>
          <a:xfrm>
            <a:off x="914400" y="3986784"/>
            <a:ext cx="5120640" cy="274320"/>
          </a:xfrm>
          <a:prstGeom prst="rect">
            <a:avLst/>
          </a:prstGeom>
          <a:noFill/>
          <a:ln/>
        </p:spPr>
        <p:txBody>
          <a:bodyPr wrap="square" lIns="0" tIns="0" rIns="0" bIns="0" rtlCol="0" anchor="ctr"/>
          <a:lstStyle/>
          <a:p>
            <a:pPr indent="0" marL="0">
              <a:buNone/>
            </a:pPr>
            <a:r>
              <a:rPr lang="en-US" sz="1400" dirty="0">
                <a:solidFill>
                  <a:srgbClr val="EEF2EE"/>
                </a:solidFill>
                <a:latin typeface="Calibri" pitchFamily="34" charset="0"/>
                <a:ea typeface="Calibri" pitchFamily="34" charset="-122"/>
                <a:cs typeface="Calibri" pitchFamily="34" charset="-120"/>
              </a:rPr>
              <a:t>Edit a token's subject</a:t>
            </a:r>
            <a:endParaRPr lang="en-US" sz="1400" dirty="0"/>
          </a:p>
        </p:txBody>
      </p:sp>
      <p:sp>
        <p:nvSpPr>
          <p:cNvPr id="16" name="Text 14"/>
          <p:cNvSpPr txBox="1"/>
          <p:nvPr/>
        </p:nvSpPr>
        <p:spPr>
          <a:xfrm>
            <a:off x="6309360" y="3995928"/>
            <a:ext cx="5029200" cy="274320"/>
          </a:xfrm>
          <a:prstGeom prst="rect">
            <a:avLst/>
          </a:prstGeom>
          <a:noFill/>
          <a:ln/>
        </p:spPr>
        <p:txBody>
          <a:bodyPr wrap="square" lIns="0" tIns="0" rIns="0" bIns="0" rtlCol="0" anchor="ctr"/>
          <a:lstStyle/>
          <a:p>
            <a:pPr indent="0" marL="0">
              <a:buNone/>
            </a:pPr>
            <a:r>
              <a:rPr lang="en-US" sz="1250" dirty="0">
                <a:solidFill>
                  <a:srgbClr val="2FD39B"/>
                </a:solidFill>
                <a:latin typeface="Courier New" pitchFamily="34" charset="0"/>
                <a:ea typeface="Courier New" pitchFamily="34" charset="-122"/>
                <a:cs typeface="Courier New" pitchFamily="34" charset="-120"/>
              </a:rPr>
              <a:t>401  signature fails</a:t>
            </a:r>
            <a:endParaRPr lang="en-US" sz="1250" dirty="0"/>
          </a:p>
        </p:txBody>
      </p:sp>
      <p:sp>
        <p:nvSpPr>
          <p:cNvPr id="17" name="Shape 15"/>
          <p:cNvSpPr/>
          <p:nvPr/>
        </p:nvSpPr>
        <p:spPr>
          <a:xfrm>
            <a:off x="640080" y="4471416"/>
            <a:ext cx="10881360" cy="512064"/>
          </a:xfrm>
          <a:prstGeom prst="roundRect">
            <a:avLst>
              <a:gd name="adj" fmla="val 10714"/>
            </a:avLst>
          </a:prstGeom>
          <a:solidFill>
            <a:srgbClr val="1C2522"/>
          </a:solidFill>
          <a:ln/>
        </p:spPr>
      </p:sp>
      <p:sp>
        <p:nvSpPr>
          <p:cNvPr id="18" name="Text 16"/>
          <p:cNvSpPr txBox="1"/>
          <p:nvPr/>
        </p:nvSpPr>
        <p:spPr>
          <a:xfrm>
            <a:off x="914400" y="4590288"/>
            <a:ext cx="5120640" cy="274320"/>
          </a:xfrm>
          <a:prstGeom prst="rect">
            <a:avLst/>
          </a:prstGeom>
          <a:noFill/>
          <a:ln/>
        </p:spPr>
        <p:txBody>
          <a:bodyPr wrap="square" lIns="0" tIns="0" rIns="0" bIns="0" rtlCol="0" anchor="ctr"/>
          <a:lstStyle/>
          <a:p>
            <a:pPr indent="0" marL="0">
              <a:buNone/>
            </a:pPr>
            <a:r>
              <a:rPr lang="en-US" sz="1400" dirty="0">
                <a:solidFill>
                  <a:srgbClr val="EEF2EE"/>
                </a:solidFill>
                <a:latin typeface="Calibri" pitchFamily="34" charset="0"/>
                <a:ea typeface="Calibri" pitchFamily="34" charset="-122"/>
                <a:cs typeface="Calibri" pitchFamily="34" charset="-120"/>
              </a:rPr>
              <a:t>Submit one photo twice</a:t>
            </a:r>
            <a:endParaRPr lang="en-US" sz="1400" dirty="0"/>
          </a:p>
        </p:txBody>
      </p:sp>
      <p:sp>
        <p:nvSpPr>
          <p:cNvPr id="19" name="Text 17"/>
          <p:cNvSpPr txBox="1"/>
          <p:nvPr/>
        </p:nvSpPr>
        <p:spPr>
          <a:xfrm>
            <a:off x="6309360" y="4599432"/>
            <a:ext cx="5029200" cy="274320"/>
          </a:xfrm>
          <a:prstGeom prst="rect">
            <a:avLst/>
          </a:prstGeom>
          <a:noFill/>
          <a:ln/>
        </p:spPr>
        <p:txBody>
          <a:bodyPr wrap="square" lIns="0" tIns="0" rIns="0" bIns="0" rtlCol="0" anchor="ctr"/>
          <a:lstStyle/>
          <a:p>
            <a:pPr indent="0" marL="0">
              <a:buNone/>
            </a:pPr>
            <a:r>
              <a:rPr lang="en-US" sz="1250" dirty="0">
                <a:solidFill>
                  <a:srgbClr val="2FD39B"/>
                </a:solidFill>
                <a:latin typeface="Courier New" pitchFamily="34" charset="0"/>
                <a:ea typeface="Courier New" pitchFamily="34" charset="-122"/>
                <a:cs typeface="Courier New" pitchFamily="34" charset="-120"/>
              </a:rPr>
              <a:t>400  refusing to credit the same image</a:t>
            </a:r>
            <a:endParaRPr lang="en-US" sz="1250" dirty="0"/>
          </a:p>
        </p:txBody>
      </p:sp>
      <p:sp>
        <p:nvSpPr>
          <p:cNvPr id="20" name="Shape 18"/>
          <p:cNvSpPr/>
          <p:nvPr/>
        </p:nvSpPr>
        <p:spPr>
          <a:xfrm>
            <a:off x="640080" y="5074920"/>
            <a:ext cx="10881360" cy="512064"/>
          </a:xfrm>
          <a:prstGeom prst="roundRect">
            <a:avLst>
              <a:gd name="adj" fmla="val 10714"/>
            </a:avLst>
          </a:prstGeom>
          <a:solidFill>
            <a:srgbClr val="151B19"/>
          </a:solidFill>
          <a:ln/>
        </p:spPr>
      </p:sp>
      <p:sp>
        <p:nvSpPr>
          <p:cNvPr id="21" name="Text 19"/>
          <p:cNvSpPr txBox="1"/>
          <p:nvPr/>
        </p:nvSpPr>
        <p:spPr>
          <a:xfrm>
            <a:off x="914400" y="5193792"/>
            <a:ext cx="5120640" cy="274320"/>
          </a:xfrm>
          <a:prstGeom prst="rect">
            <a:avLst/>
          </a:prstGeom>
          <a:noFill/>
          <a:ln/>
        </p:spPr>
        <p:txBody>
          <a:bodyPr wrap="square" lIns="0" tIns="0" rIns="0" bIns="0" rtlCol="0" anchor="ctr"/>
          <a:lstStyle/>
          <a:p>
            <a:pPr indent="0" marL="0">
              <a:buNone/>
            </a:pPr>
            <a:r>
              <a:rPr lang="en-US" sz="1400" dirty="0">
                <a:solidFill>
                  <a:srgbClr val="EEF2EE"/>
                </a:solidFill>
                <a:latin typeface="Calibri" pitchFamily="34" charset="0"/>
                <a:ea typeface="Calibri" pitchFamily="34" charset="-122"/>
                <a:cs typeface="Calibri" pitchFamily="34" charset="-120"/>
              </a:rPr>
              <a:t>Edit a ledger row</a:t>
            </a:r>
            <a:endParaRPr lang="en-US" sz="1400" dirty="0"/>
          </a:p>
        </p:txBody>
      </p:sp>
      <p:sp>
        <p:nvSpPr>
          <p:cNvPr id="22" name="Text 20"/>
          <p:cNvSpPr txBox="1"/>
          <p:nvPr/>
        </p:nvSpPr>
        <p:spPr>
          <a:xfrm>
            <a:off x="6309360" y="5202936"/>
            <a:ext cx="5029200" cy="274320"/>
          </a:xfrm>
          <a:prstGeom prst="rect">
            <a:avLst/>
          </a:prstGeom>
          <a:noFill/>
          <a:ln/>
        </p:spPr>
        <p:txBody>
          <a:bodyPr wrap="square" lIns="0" tIns="0" rIns="0" bIns="0" rtlCol="0" anchor="ctr"/>
          <a:lstStyle/>
          <a:p>
            <a:pPr indent="0" marL="0">
              <a:buNone/>
            </a:pPr>
            <a:r>
              <a:rPr lang="en-US" sz="1250" dirty="0">
                <a:solidFill>
                  <a:srgbClr val="2FD39B"/>
                </a:solidFill>
                <a:latin typeface="Courier New" pitchFamily="34" charset="0"/>
                <a:ea typeface="Courier New" pitchFamily="34" charset="-122"/>
                <a:cs typeface="Courier New" pitchFamily="34" charset="-120"/>
              </a:rPr>
              <a:t>chain breaks at that row</a:t>
            </a:r>
            <a:endParaRPr lang="en-US" sz="1250" dirty="0"/>
          </a:p>
        </p:txBody>
      </p:sp>
      <p:sp>
        <p:nvSpPr>
          <p:cNvPr id="23" name="Text 21"/>
          <p:cNvSpPr txBox="1"/>
          <p:nvPr/>
        </p:nvSpPr>
        <p:spPr>
          <a:xfrm>
            <a:off x="640080" y="5806440"/>
            <a:ext cx="10881360" cy="365760"/>
          </a:xfrm>
          <a:prstGeom prst="rect">
            <a:avLst/>
          </a:prstGeom>
          <a:noFill/>
          <a:ln/>
        </p:spPr>
        <p:txBody>
          <a:bodyPr wrap="square" lIns="0" tIns="0" rIns="0" bIns="0" rtlCol="0" anchor="ctr"/>
          <a:lstStyle/>
          <a:p>
            <a:pPr indent="0" marL="0">
              <a:buNone/>
            </a:pPr>
            <a:r>
              <a:rPr lang="en-US" sz="1500" dirty="0">
                <a:solidFill>
                  <a:srgbClr val="FFB02E"/>
                </a:solidFill>
                <a:latin typeface="Calibri" pitchFamily="34" charset="0"/>
                <a:ea typeface="Calibri" pitchFamily="34" charset="-122"/>
                <a:cs typeface="Calibri" pitchFamily="34" charset="-120"/>
              </a:rPr>
              <a:t>A judge presses the buttons. We are not describing the guards - we are failing to get past them, live.</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B0E0D"/>
          </a:solidFill>
          <a:ln/>
        </p:spPr>
      </p:sp>
      <p:sp>
        <p:nvSpPr>
          <p:cNvPr id="3" name="Text 1"/>
          <p:cNvSpPr txBox="1"/>
          <p:nvPr/>
        </p:nvSpPr>
        <p:spPr>
          <a:xfrm>
            <a:off x="640080" y="502920"/>
            <a:ext cx="5486400" cy="237744"/>
          </a:xfrm>
          <a:prstGeom prst="rect">
            <a:avLst/>
          </a:prstGeom>
          <a:noFill/>
          <a:ln/>
        </p:spPr>
        <p:txBody>
          <a:bodyPr wrap="square" lIns="0" tIns="0" rIns="0" bIns="0" rtlCol="0" anchor="ctr"/>
          <a:lstStyle/>
          <a:p>
            <a:pPr indent="0" marL="0">
              <a:buNone/>
            </a:pPr>
            <a:r>
              <a:rPr lang="en-US" sz="1000" b="1" spc="200" kern="0" dirty="0">
                <a:solidFill>
                  <a:srgbClr val="FFB02E"/>
                </a:solidFill>
                <a:latin typeface="Courier New" pitchFamily="34" charset="0"/>
                <a:ea typeface="Courier New" pitchFamily="34" charset="-122"/>
                <a:cs typeface="Courier New" pitchFamily="34" charset="-120"/>
              </a:rPr>
              <a:t>THE NUMBERS</a:t>
            </a:r>
            <a:endParaRPr lang="en-US" sz="1000" dirty="0"/>
          </a:p>
        </p:txBody>
      </p:sp>
      <p:sp>
        <p:nvSpPr>
          <p:cNvPr id="4" name="Text 2"/>
          <p:cNvSpPr txBox="1"/>
          <p:nvPr/>
        </p:nvSpPr>
        <p:spPr>
          <a:xfrm>
            <a:off x="640080" y="914400"/>
            <a:ext cx="10881360" cy="914400"/>
          </a:xfrm>
          <a:prstGeom prst="rect">
            <a:avLst/>
          </a:prstGeom>
          <a:noFill/>
          <a:ln/>
        </p:spPr>
        <p:txBody>
          <a:bodyPr wrap="square" lIns="0" tIns="0" rIns="0" bIns="0" rtlCol="0" anchor="ctr"/>
          <a:lstStyle/>
          <a:p>
            <a:pPr indent="0" marL="0">
              <a:buNone/>
            </a:pPr>
            <a:r>
              <a:rPr lang="en-US" sz="3800" b="1" dirty="0">
                <a:solidFill>
                  <a:srgbClr val="EEF2EE"/>
                </a:solidFill>
                <a:latin typeface="Cambria" pitchFamily="34" charset="0"/>
                <a:ea typeface="Cambria" pitchFamily="34" charset="-122"/>
                <a:cs typeface="Cambria" pitchFamily="34" charset="-120"/>
              </a:rPr>
              <a:t>Every constant carries its citation</a:t>
            </a:r>
            <a:endParaRPr lang="en-US" sz="3800" dirty="0"/>
          </a:p>
        </p:txBody>
      </p:sp>
      <p:sp>
        <p:nvSpPr>
          <p:cNvPr id="5" name="Shape 3"/>
          <p:cNvSpPr/>
          <p:nvPr/>
        </p:nvSpPr>
        <p:spPr>
          <a:xfrm>
            <a:off x="640080" y="2057400"/>
            <a:ext cx="10881360" cy="914400"/>
          </a:xfrm>
          <a:prstGeom prst="roundRect">
            <a:avLst>
              <a:gd name="adj" fmla="val 8000"/>
            </a:avLst>
          </a:prstGeom>
          <a:solidFill>
            <a:srgbClr val="1C2522"/>
          </a:solidFill>
          <a:ln/>
        </p:spPr>
      </p:sp>
      <p:sp>
        <p:nvSpPr>
          <p:cNvPr id="6" name="Text 4"/>
          <p:cNvSpPr txBox="1"/>
          <p:nvPr/>
        </p:nvSpPr>
        <p:spPr>
          <a:xfrm>
            <a:off x="914400" y="2331720"/>
            <a:ext cx="10332720" cy="365760"/>
          </a:xfrm>
          <a:prstGeom prst="rect">
            <a:avLst/>
          </a:prstGeom>
          <a:noFill/>
          <a:ln/>
        </p:spPr>
        <p:txBody>
          <a:bodyPr wrap="square" lIns="0" tIns="0" rIns="0" bIns="0" rtlCol="0" anchor="ctr"/>
          <a:lstStyle/>
          <a:p>
            <a:pPr indent="0" marL="0">
              <a:buNone/>
            </a:pPr>
            <a:r>
              <a:rPr lang="en-US" sz="1450" dirty="0">
                <a:solidFill>
                  <a:srgbClr val="FFB02E"/>
                </a:solidFill>
                <a:latin typeface="Courier New" pitchFamily="34" charset="0"/>
                <a:ea typeface="Courier New" pitchFamily="34" charset="-122"/>
                <a:cs typeface="Courier New" pitchFamily="34" charset="-120"/>
              </a:rPr>
              <a:t>net tCO2e  =  biochar_t x sequestration_factor x quality  -  transport_debit  -  process_debit</a:t>
            </a:r>
            <a:endParaRPr lang="en-US" sz="1450" dirty="0"/>
          </a:p>
        </p:txBody>
      </p:sp>
      <p:sp>
        <p:nvSpPr>
          <p:cNvPr id="7" name="Shape 5"/>
          <p:cNvSpPr/>
          <p:nvPr/>
        </p:nvSpPr>
        <p:spPr>
          <a:xfrm>
            <a:off x="640080" y="3246120"/>
            <a:ext cx="5212080" cy="2240280"/>
          </a:xfrm>
          <a:prstGeom prst="roundRect">
            <a:avLst>
              <a:gd name="adj" fmla="val 3265"/>
            </a:avLst>
          </a:prstGeom>
          <a:solidFill>
            <a:srgbClr val="151B19"/>
          </a:solidFill>
          <a:ln/>
        </p:spPr>
      </p:sp>
      <p:sp>
        <p:nvSpPr>
          <p:cNvPr id="8" name="Text 6"/>
          <p:cNvSpPr txBox="1"/>
          <p:nvPr/>
        </p:nvSpPr>
        <p:spPr>
          <a:xfrm>
            <a:off x="914400" y="3474720"/>
            <a:ext cx="4663440" cy="685800"/>
          </a:xfrm>
          <a:prstGeom prst="rect">
            <a:avLst/>
          </a:prstGeom>
          <a:noFill/>
          <a:ln/>
        </p:spPr>
        <p:txBody>
          <a:bodyPr wrap="square" lIns="0" tIns="0" rIns="0" bIns="0" rtlCol="0" anchor="ctr"/>
          <a:lstStyle/>
          <a:p>
            <a:pPr indent="0" marL="0">
              <a:buNone/>
            </a:pPr>
            <a:r>
              <a:rPr lang="en-US" sz="4200" b="1" dirty="0">
                <a:solidFill>
                  <a:srgbClr val="2FD39B"/>
                </a:solidFill>
                <a:latin typeface="Cambria" pitchFamily="34" charset="0"/>
                <a:ea typeface="Cambria" pitchFamily="34" charset="-122"/>
                <a:cs typeface="Cambria" pitchFamily="34" charset="-120"/>
              </a:rPr>
              <a:t>1.437</a:t>
            </a:r>
            <a:endParaRPr lang="en-US" sz="4200" dirty="0"/>
          </a:p>
        </p:txBody>
      </p:sp>
      <p:sp>
        <p:nvSpPr>
          <p:cNvPr id="9" name="Text 7"/>
          <p:cNvSpPr txBox="1"/>
          <p:nvPr/>
        </p:nvSpPr>
        <p:spPr>
          <a:xfrm>
            <a:off x="914400" y="4160520"/>
            <a:ext cx="4663440" cy="274320"/>
          </a:xfrm>
          <a:prstGeom prst="rect">
            <a:avLst/>
          </a:prstGeom>
          <a:noFill/>
          <a:ln/>
        </p:spPr>
        <p:txBody>
          <a:bodyPr wrap="square" lIns="0" tIns="0" rIns="0" bIns="0" rtlCol="0" anchor="ctr"/>
          <a:lstStyle/>
          <a:p>
            <a:pPr indent="0" marL="0">
              <a:buNone/>
            </a:pPr>
            <a:r>
              <a:rPr lang="en-US" sz="1100" dirty="0">
                <a:solidFill>
                  <a:srgbClr val="6F7D75"/>
                </a:solidFill>
                <a:latin typeface="Courier New" pitchFamily="34" charset="0"/>
                <a:ea typeface="Courier New" pitchFamily="34" charset="-122"/>
                <a:cs typeface="Courier New" pitchFamily="34" charset="-120"/>
              </a:rPr>
              <a:t>tCO2e per tonne of biochar</a:t>
            </a:r>
            <a:endParaRPr lang="en-US" sz="1100" dirty="0"/>
          </a:p>
        </p:txBody>
      </p:sp>
      <p:sp>
        <p:nvSpPr>
          <p:cNvPr id="10" name="Text 8"/>
          <p:cNvSpPr txBox="1"/>
          <p:nvPr/>
        </p:nvSpPr>
        <p:spPr>
          <a:xfrm>
            <a:off x="914400" y="4526280"/>
            <a:ext cx="4663440" cy="1097280"/>
          </a:xfrm>
          <a:prstGeom prst="rect">
            <a:avLst/>
          </a:prstGeom>
          <a:noFill/>
          <a:ln/>
        </p:spPr>
        <p:txBody>
          <a:bodyPr wrap="square" lIns="0" tIns="0" rIns="0" bIns="0" rtlCol="0" anchor="ctr"/>
          <a:lstStyle/>
          <a:p>
            <a:pPr indent="0" marL="0">
              <a:lnSpc>
                <a:spcPts val="1600"/>
              </a:lnSpc>
              <a:buNone/>
            </a:pPr>
            <a:r>
              <a:rPr lang="en-US" sz="1200" dirty="0">
                <a:solidFill>
                  <a:srgbClr val="9AA8A0"/>
                </a:solidFill>
                <a:latin typeface="Calibri" pitchFamily="34" charset="0"/>
                <a:ea typeface="Calibri" pitchFamily="34" charset="-122"/>
                <a:cs typeface="Calibri" pitchFamily="34" charset="-120"/>
              </a:rPr>
              <a:t>IPCC 2019 Refinement, Vol.4 Ch.2 App.4,</a:t>
            </a:r>
            <a:endParaRPr lang="en-US" sz="1200" dirty="0"/>
          </a:p>
          <a:p>
            <a:pPr indent="0" marL="0">
              <a:lnSpc>
                <a:spcPts val="1600"/>
              </a:lnSpc>
              <a:buNone/>
            </a:pPr>
            <a:r>
              <a:rPr lang="en-US" sz="1200" dirty="0">
                <a:solidFill>
                  <a:srgbClr val="9AA8A0"/>
                </a:solidFill>
                <a:latin typeface="Calibri" pitchFamily="34" charset="0"/>
                <a:ea typeface="Calibri" pitchFamily="34" charset="-122"/>
                <a:cs typeface="Calibri" pitchFamily="34" charset="-120"/>
              </a:rPr>
              <a:t>Tables 4Ap.1 and 4Ap.2 - rice-straw class,</a:t>
            </a:r>
            <a:endParaRPr lang="en-US" sz="1200" dirty="0"/>
          </a:p>
          <a:p>
            <a:pPr indent="0" marL="0">
              <a:lnSpc>
                <a:spcPts val="1600"/>
              </a:lnSpc>
              <a:buNone/>
            </a:pPr>
            <a:r>
              <a:rPr lang="en-US" sz="1200" dirty="0">
                <a:solidFill>
                  <a:srgbClr val="9AA8A0"/>
                </a:solidFill>
                <a:latin typeface="Calibri" pitchFamily="34" charset="0"/>
                <a:ea typeface="Calibri" pitchFamily="34" charset="-122"/>
                <a:cs typeface="Calibri" pitchFamily="34" charset="-120"/>
              </a:rPr>
              <a:t>chosen over the herbaceous class on purpose.</a:t>
            </a:r>
            <a:endParaRPr lang="en-US" sz="1200" dirty="0"/>
          </a:p>
        </p:txBody>
      </p:sp>
      <p:sp>
        <p:nvSpPr>
          <p:cNvPr id="11" name="Shape 9"/>
          <p:cNvSpPr/>
          <p:nvPr/>
        </p:nvSpPr>
        <p:spPr>
          <a:xfrm>
            <a:off x="6309360" y="3246120"/>
            <a:ext cx="5212080" cy="2240280"/>
          </a:xfrm>
          <a:prstGeom prst="roundRect">
            <a:avLst>
              <a:gd name="adj" fmla="val 3265"/>
            </a:avLst>
          </a:prstGeom>
          <a:solidFill>
            <a:srgbClr val="151B19"/>
          </a:solidFill>
          <a:ln/>
        </p:spPr>
      </p:sp>
      <p:sp>
        <p:nvSpPr>
          <p:cNvPr id="12" name="Text 10"/>
          <p:cNvSpPr txBox="1"/>
          <p:nvPr/>
        </p:nvSpPr>
        <p:spPr>
          <a:xfrm>
            <a:off x="6583680" y="3474720"/>
            <a:ext cx="4663440" cy="731520"/>
          </a:xfrm>
          <a:prstGeom prst="rect">
            <a:avLst/>
          </a:prstGeom>
          <a:noFill/>
          <a:ln/>
        </p:spPr>
        <p:txBody>
          <a:bodyPr wrap="square" lIns="0" tIns="0" rIns="0" bIns="0" rtlCol="0" anchor="ctr"/>
          <a:lstStyle/>
          <a:p>
            <a:pPr indent="0" marL="0">
              <a:lnSpc>
                <a:spcPts val="2400"/>
              </a:lnSpc>
              <a:buNone/>
            </a:pPr>
            <a:r>
              <a:rPr lang="en-US" sz="1800" b="1" dirty="0">
                <a:solidFill>
                  <a:srgbClr val="EEF2EE"/>
                </a:solidFill>
                <a:latin typeface="Cambria" pitchFamily="34" charset="0"/>
                <a:ea typeface="Cambria" pitchFamily="34" charset="-122"/>
                <a:cs typeface="Cambria" pitchFamily="34" charset="-120"/>
              </a:rPr>
              <a:t>Under-crediting is the</a:t>
            </a:r>
            <a:endParaRPr lang="en-US" sz="1800" dirty="0"/>
          </a:p>
          <a:p>
            <a:pPr indent="0" marL="0">
              <a:lnSpc>
                <a:spcPts val="2400"/>
              </a:lnSpc>
              <a:buNone/>
            </a:pPr>
            <a:r>
              <a:rPr lang="en-US" sz="1800" b="1" dirty="0">
                <a:solidFill>
                  <a:srgbClr val="EEF2EE"/>
                </a:solidFill>
                <a:latin typeface="Cambria" pitchFamily="34" charset="0"/>
                <a:ea typeface="Cambria" pitchFamily="34" charset="-122"/>
                <a:cs typeface="Cambria" pitchFamily="34" charset="-120"/>
              </a:rPr>
              <a:t>conservative error</a:t>
            </a:r>
            <a:endParaRPr lang="en-US" sz="1800" dirty="0"/>
          </a:p>
        </p:txBody>
      </p:sp>
      <p:sp>
        <p:nvSpPr>
          <p:cNvPr id="13" name="Text 11"/>
          <p:cNvSpPr txBox="1"/>
          <p:nvPr/>
        </p:nvSpPr>
        <p:spPr>
          <a:xfrm>
            <a:off x="6583680" y="4206240"/>
            <a:ext cx="4663440" cy="1097280"/>
          </a:xfrm>
          <a:prstGeom prst="rect">
            <a:avLst/>
          </a:prstGeom>
          <a:noFill/>
          <a:ln/>
        </p:spPr>
        <p:txBody>
          <a:bodyPr wrap="square" lIns="0" tIns="0" rIns="0" bIns="0" rtlCol="0" anchor="ctr"/>
          <a:lstStyle/>
          <a:p>
            <a:pPr indent="0" marL="0">
              <a:lnSpc>
                <a:spcPts val="1600"/>
              </a:lnSpc>
              <a:buNone/>
            </a:pPr>
            <a:r>
              <a:rPr lang="en-US" sz="1200" dirty="0">
                <a:solidFill>
                  <a:srgbClr val="9AA8A0"/>
                </a:solidFill>
                <a:latin typeface="Calibri" pitchFamily="34" charset="0"/>
                <a:ea typeface="Calibri" pitchFamily="34" charset="-122"/>
                <a:cs typeface="Calibri" pitchFamily="34" charset="-120"/>
              </a:rPr>
              <a:t>The herbaceous figure would give 1.91 and a bigger</a:t>
            </a:r>
            <a:endParaRPr lang="en-US" sz="1200" dirty="0"/>
          </a:p>
          <a:p>
            <a:pPr indent="0" marL="0">
              <a:lnSpc>
                <a:spcPts val="1600"/>
              </a:lnSpc>
              <a:buNone/>
            </a:pPr>
            <a:r>
              <a:rPr lang="en-US" sz="1200" dirty="0">
                <a:solidFill>
                  <a:srgbClr val="9AA8A0"/>
                </a:solidFill>
                <a:latin typeface="Calibri" pitchFamily="34" charset="0"/>
                <a:ea typeface="Calibri" pitchFamily="34" charset="-122"/>
                <a:cs typeface="Calibri" pitchFamily="34" charset="-120"/>
              </a:rPr>
              <a:t>number on every slide. Paddy straw is our primary</a:t>
            </a:r>
            <a:endParaRPr lang="en-US" sz="1200" dirty="0"/>
          </a:p>
          <a:p>
            <a:pPr indent="0" marL="0">
              <a:lnSpc>
                <a:spcPts val="1600"/>
              </a:lnSpc>
              <a:buNone/>
            </a:pPr>
            <a:r>
              <a:rPr lang="en-US" sz="1200" dirty="0">
                <a:solidFill>
                  <a:srgbClr val="9AA8A0"/>
                </a:solidFill>
                <a:latin typeface="Calibri" pitchFamily="34" charset="0"/>
                <a:ea typeface="Calibri" pitchFamily="34" charset="-122"/>
                <a:cs typeface="Calibri" pitchFamily="34" charset="-120"/>
              </a:rPr>
              <a:t>feedstock, so we take the lower one and say why.</a:t>
            </a:r>
            <a:endParaRPr lang="en-US" sz="1200" dirty="0"/>
          </a:p>
          <a:p>
            <a:pPr indent="0" marL="0">
              <a:lnSpc>
                <a:spcPts val="1600"/>
              </a:lnSpc>
              <a:buNone/>
            </a:pPr>
            <a:endParaRPr lang="en-US" sz="1200" dirty="0"/>
          </a:p>
          <a:p>
            <a:pPr indent="0" marL="0">
              <a:lnSpc>
                <a:spcPts val="1600"/>
              </a:lnSpc>
              <a:buNone/>
            </a:pPr>
            <a:r>
              <a:rPr lang="en-US" sz="1200" dirty="0">
                <a:solidFill>
                  <a:srgbClr val="9AA8A0"/>
                </a:solidFill>
                <a:latin typeface="Calibri" pitchFamily="34" charset="0"/>
                <a:ea typeface="Calibri" pitchFamily="34" charset="-122"/>
                <a:cs typeface="Calibri" pitchFamily="34" charset="-120"/>
              </a:rPr>
              <a:t>Transport and process debits are subtracted, so a</a:t>
            </a:r>
            <a:endParaRPr lang="en-US" sz="1200" dirty="0"/>
          </a:p>
          <a:p>
            <a:pPr indent="0" marL="0">
              <a:lnSpc>
                <a:spcPts val="1600"/>
              </a:lnSpc>
              <a:buNone/>
            </a:pPr>
            <a:r>
              <a:rPr lang="en-US" sz="1200" dirty="0">
                <a:solidFill>
                  <a:srgbClr val="9AA8A0"/>
                </a:solidFill>
                <a:latin typeface="Calibri" pitchFamily="34" charset="0"/>
                <a:ea typeface="Calibri" pitchFamily="34" charset="-122"/>
                <a:cs typeface="Calibri" pitchFamily="34" charset="-120"/>
              </a:rPr>
              <a:t>longer haul visibly earns a smaller credit.</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B0E0D"/>
          </a:solidFill>
          <a:ln/>
        </p:spPr>
      </p:sp>
      <p:sp>
        <p:nvSpPr>
          <p:cNvPr id="3" name="Text 1"/>
          <p:cNvSpPr txBox="1"/>
          <p:nvPr/>
        </p:nvSpPr>
        <p:spPr>
          <a:xfrm>
            <a:off x="640080" y="502920"/>
            <a:ext cx="5486400" cy="237744"/>
          </a:xfrm>
          <a:prstGeom prst="rect">
            <a:avLst/>
          </a:prstGeom>
          <a:noFill/>
          <a:ln/>
        </p:spPr>
        <p:txBody>
          <a:bodyPr wrap="square" lIns="0" tIns="0" rIns="0" bIns="0" rtlCol="0" anchor="ctr"/>
          <a:lstStyle/>
          <a:p>
            <a:pPr indent="0" marL="0">
              <a:buNone/>
            </a:pPr>
            <a:r>
              <a:rPr lang="en-US" sz="1000" b="1" spc="200" kern="0" dirty="0">
                <a:solidFill>
                  <a:srgbClr val="FFB02E"/>
                </a:solidFill>
                <a:latin typeface="Courier New" pitchFamily="34" charset="0"/>
                <a:ea typeface="Courier New" pitchFamily="34" charset="-122"/>
                <a:cs typeface="Courier New" pitchFamily="34" charset="-120"/>
              </a:rPr>
              <a:t>COVERAGE</a:t>
            </a:r>
            <a:endParaRPr lang="en-US" sz="1000" dirty="0"/>
          </a:p>
        </p:txBody>
      </p:sp>
      <p:sp>
        <p:nvSpPr>
          <p:cNvPr id="4" name="Text 2"/>
          <p:cNvSpPr txBox="1"/>
          <p:nvPr/>
        </p:nvSpPr>
        <p:spPr>
          <a:xfrm>
            <a:off x="640080" y="914400"/>
            <a:ext cx="10881360" cy="914400"/>
          </a:xfrm>
          <a:prstGeom prst="rect">
            <a:avLst/>
          </a:prstGeom>
          <a:noFill/>
          <a:ln/>
        </p:spPr>
        <p:txBody>
          <a:bodyPr wrap="square" lIns="0" tIns="0" rIns="0" bIns="0" rtlCol="0" anchor="ctr"/>
          <a:lstStyle/>
          <a:p>
            <a:pPr indent="0" marL="0">
              <a:buNone/>
            </a:pPr>
            <a:r>
              <a:rPr lang="en-US" sz="3800" b="1" dirty="0">
                <a:solidFill>
                  <a:srgbClr val="EEF2EE"/>
                </a:solidFill>
                <a:latin typeface="Cambria" pitchFamily="34" charset="0"/>
                <a:ea typeface="Cambria" pitchFamily="34" charset="-122"/>
                <a:cs typeface="Cambria" pitchFamily="34" charset="-120"/>
              </a:rPr>
              <a:t>Two ways in, because a satellite cannot see everything</a:t>
            </a:r>
            <a:endParaRPr lang="en-US" sz="3800" dirty="0"/>
          </a:p>
        </p:txBody>
      </p:sp>
      <p:sp>
        <p:nvSpPr>
          <p:cNvPr id="5" name="Shape 3"/>
          <p:cNvSpPr/>
          <p:nvPr/>
        </p:nvSpPr>
        <p:spPr>
          <a:xfrm>
            <a:off x="640080" y="2103120"/>
            <a:ext cx="5212080" cy="3017520"/>
          </a:xfrm>
          <a:prstGeom prst="roundRect">
            <a:avLst>
              <a:gd name="adj" fmla="val 2424"/>
            </a:avLst>
          </a:prstGeom>
          <a:solidFill>
            <a:srgbClr val="151B19"/>
          </a:solidFill>
          <a:ln/>
        </p:spPr>
      </p:sp>
      <p:sp>
        <p:nvSpPr>
          <p:cNvPr id="6" name="Text 4"/>
          <p:cNvSpPr txBox="1"/>
          <p:nvPr/>
        </p:nvSpPr>
        <p:spPr>
          <a:xfrm>
            <a:off x="914400" y="2304288"/>
            <a:ext cx="4663440" cy="365760"/>
          </a:xfrm>
          <a:prstGeom prst="rect">
            <a:avLst/>
          </a:prstGeom>
          <a:noFill/>
          <a:ln/>
        </p:spPr>
        <p:txBody>
          <a:bodyPr wrap="square" lIns="0" tIns="0" rIns="0" bIns="0" rtlCol="0" anchor="ctr"/>
          <a:lstStyle/>
          <a:p>
            <a:pPr indent="0" marL="0">
              <a:buNone/>
            </a:pPr>
            <a:r>
              <a:rPr lang="en-US" sz="2100" b="1" dirty="0">
                <a:solidFill>
                  <a:srgbClr val="FFB02E"/>
                </a:solidFill>
                <a:latin typeface="Cambria" pitchFamily="34" charset="0"/>
                <a:ea typeface="Cambria" pitchFamily="34" charset="-122"/>
                <a:cs typeface="Cambria" pitchFamily="34" charset="-120"/>
              </a:rPr>
              <a:t>Detected</a:t>
            </a:r>
            <a:endParaRPr lang="en-US" sz="2100" dirty="0"/>
          </a:p>
        </p:txBody>
      </p:sp>
      <p:sp>
        <p:nvSpPr>
          <p:cNvPr id="7" name="Text 5"/>
          <p:cNvSpPr txBox="1"/>
          <p:nvPr/>
        </p:nvSpPr>
        <p:spPr>
          <a:xfrm>
            <a:off x="914400" y="2743200"/>
            <a:ext cx="4663440" cy="1097280"/>
          </a:xfrm>
          <a:prstGeom prst="rect">
            <a:avLst/>
          </a:prstGeom>
          <a:noFill/>
          <a:ln/>
        </p:spPr>
        <p:txBody>
          <a:bodyPr wrap="square" lIns="0" tIns="0" rIns="0" bIns="0" rtlCol="0" anchor="ctr"/>
          <a:lstStyle/>
          <a:p>
            <a:pPr indent="0" marL="0">
              <a:lnSpc>
                <a:spcPts val="1700"/>
              </a:lnSpc>
              <a:buNone/>
            </a:pPr>
            <a:r>
              <a:rPr lang="en-US" sz="1250" dirty="0">
                <a:solidFill>
                  <a:srgbClr val="9AA8A0"/>
                </a:solidFill>
                <a:latin typeface="Calibri" pitchFamily="34" charset="0"/>
                <a:ea typeface="Calibri" pitchFamily="34" charset="-122"/>
                <a:cs typeface="Calibri" pitchFamily="34" charset="-120"/>
              </a:rPr>
              <a:t>NASA FIRMS, VIIRS thermal, 5-day window.</a:t>
            </a:r>
            <a:endParaRPr lang="en-US" sz="1250" dirty="0"/>
          </a:p>
          <a:p>
            <a:pPr indent="0" marL="0">
              <a:lnSpc>
                <a:spcPts val="1700"/>
              </a:lnSpc>
              <a:buNone/>
            </a:pPr>
            <a:r>
              <a:rPr lang="en-US" sz="1250" dirty="0">
                <a:solidFill>
                  <a:srgbClr val="9AA8A0"/>
                </a:solidFill>
                <a:latin typeface="Calibri" pitchFamily="34" charset="0"/>
                <a:ea typeface="Calibri" pitchFamily="34" charset="-122"/>
                <a:cs typeface="Calibri" pitchFamily="34" charset="-120"/>
              </a:rPr>
              <a:t>Independent evidence: NASA saw it whether or</a:t>
            </a:r>
            <a:endParaRPr lang="en-US" sz="1250" dirty="0"/>
          </a:p>
          <a:p>
            <a:pPr indent="0" marL="0">
              <a:lnSpc>
                <a:spcPts val="1700"/>
              </a:lnSpc>
              <a:buNone/>
            </a:pPr>
            <a:r>
              <a:rPr lang="en-US" sz="1250" dirty="0">
                <a:solidFill>
                  <a:srgbClr val="9AA8A0"/>
                </a:solidFill>
                <a:latin typeface="Calibri" pitchFamily="34" charset="0"/>
                <a:ea typeface="Calibri" pitchFamily="34" charset="-122"/>
                <a:cs typeface="Calibri" pitchFamily="34" charset="-120"/>
              </a:rPr>
              <a:t>not anyone wanted it seen.</a:t>
            </a:r>
            <a:endParaRPr lang="en-US" sz="1250" dirty="0"/>
          </a:p>
        </p:txBody>
      </p:sp>
      <p:sp>
        <p:nvSpPr>
          <p:cNvPr id="8" name="Text 6"/>
          <p:cNvSpPr txBox="1"/>
          <p:nvPr/>
        </p:nvSpPr>
        <p:spPr>
          <a:xfrm>
            <a:off x="914400" y="3703320"/>
            <a:ext cx="4663440" cy="1097280"/>
          </a:xfrm>
          <a:prstGeom prst="rect">
            <a:avLst/>
          </a:prstGeom>
          <a:noFill/>
          <a:ln/>
        </p:spPr>
        <p:txBody>
          <a:bodyPr wrap="square" lIns="0" tIns="0" rIns="0" bIns="0" rtlCol="0" anchor="ctr"/>
          <a:lstStyle/>
          <a:p>
            <a:pPr indent="0" marL="0">
              <a:lnSpc>
                <a:spcPts val="1700"/>
              </a:lnSpc>
              <a:buNone/>
            </a:pPr>
            <a:r>
              <a:rPr lang="en-US" sz="1250" dirty="0">
                <a:solidFill>
                  <a:srgbClr val="FF5A52"/>
                </a:solidFill>
                <a:latin typeface="Calibri" pitchFamily="34" charset="0"/>
                <a:ea typeface="Calibri" pitchFamily="34" charset="-122"/>
                <a:cs typeface="Calibri" pitchFamily="34" charset="-120"/>
              </a:rPr>
              <a:t>Cloud blocks it outright. NOAA-20 passes twice a</a:t>
            </a:r>
            <a:endParaRPr lang="en-US" sz="1250" dirty="0"/>
          </a:p>
          <a:p>
            <a:pPr indent="0" marL="0">
              <a:lnSpc>
                <a:spcPts val="1700"/>
              </a:lnSpc>
              <a:buNone/>
            </a:pPr>
            <a:r>
              <a:rPr lang="en-US" sz="1250" dirty="0">
                <a:solidFill>
                  <a:srgbClr val="FF5A52"/>
                </a:solidFill>
                <a:latin typeface="Calibri" pitchFamily="34" charset="0"/>
                <a:ea typeface="Calibri" pitchFamily="34" charset="-122"/>
                <a:cs typeface="Calibri" pitchFamily="34" charset="-120"/>
              </a:rPr>
              <a:t>day. A fire under cloud is not a weak detection -</a:t>
            </a:r>
            <a:endParaRPr lang="en-US" sz="1250" dirty="0"/>
          </a:p>
          <a:p>
            <a:pPr indent="0" marL="0">
              <a:lnSpc>
                <a:spcPts val="1700"/>
              </a:lnSpc>
              <a:buNone/>
            </a:pPr>
            <a:r>
              <a:rPr lang="en-US" sz="1250" dirty="0">
                <a:solidFill>
                  <a:srgbClr val="FF5A52"/>
                </a:solidFill>
                <a:latin typeface="Calibri" pitchFamily="34" charset="0"/>
                <a:ea typeface="Calibri" pitchFamily="34" charset="-122"/>
                <a:cs typeface="Calibri" pitchFamily="34" charset="-120"/>
              </a:rPr>
              <a:t>it is no detection, and we cannot estimate what</a:t>
            </a:r>
            <a:endParaRPr lang="en-US" sz="1250" dirty="0"/>
          </a:p>
          <a:p>
            <a:pPr indent="0" marL="0">
              <a:lnSpc>
                <a:spcPts val="1700"/>
              </a:lnSpc>
              <a:buNone/>
            </a:pPr>
            <a:r>
              <a:rPr lang="en-US" sz="1250" dirty="0">
                <a:solidFill>
                  <a:srgbClr val="FF5A52"/>
                </a:solidFill>
                <a:latin typeface="Calibri" pitchFamily="34" charset="0"/>
                <a:ea typeface="Calibri" pitchFamily="34" charset="-122"/>
                <a:cs typeface="Calibri" pitchFamily="34" charset="-120"/>
              </a:rPr>
              <a:t>we miss.</a:t>
            </a:r>
            <a:endParaRPr lang="en-US" sz="1250" dirty="0"/>
          </a:p>
        </p:txBody>
      </p:sp>
      <p:sp>
        <p:nvSpPr>
          <p:cNvPr id="9" name="Shape 7"/>
          <p:cNvSpPr/>
          <p:nvPr/>
        </p:nvSpPr>
        <p:spPr>
          <a:xfrm>
            <a:off x="6309360" y="2103120"/>
            <a:ext cx="5212080" cy="3017520"/>
          </a:xfrm>
          <a:prstGeom prst="roundRect">
            <a:avLst>
              <a:gd name="adj" fmla="val 2424"/>
            </a:avLst>
          </a:prstGeom>
          <a:solidFill>
            <a:srgbClr val="151B19"/>
          </a:solidFill>
          <a:ln/>
        </p:spPr>
      </p:sp>
      <p:sp>
        <p:nvSpPr>
          <p:cNvPr id="10" name="Text 8"/>
          <p:cNvSpPr txBox="1"/>
          <p:nvPr/>
        </p:nvSpPr>
        <p:spPr>
          <a:xfrm>
            <a:off x="6583680" y="2304288"/>
            <a:ext cx="4663440" cy="365760"/>
          </a:xfrm>
          <a:prstGeom prst="rect">
            <a:avLst/>
          </a:prstGeom>
          <a:noFill/>
          <a:ln/>
        </p:spPr>
        <p:txBody>
          <a:bodyPr wrap="square" lIns="0" tIns="0" rIns="0" bIns="0" rtlCol="0" anchor="ctr"/>
          <a:lstStyle/>
          <a:p>
            <a:pPr indent="0" marL="0">
              <a:buNone/>
            </a:pPr>
            <a:r>
              <a:rPr lang="en-US" sz="2100" b="1" dirty="0">
                <a:solidFill>
                  <a:srgbClr val="2FD39B"/>
                </a:solidFill>
                <a:latin typeface="Cambria" pitchFamily="34" charset="0"/>
                <a:ea typeface="Cambria" pitchFamily="34" charset="-122"/>
                <a:cs typeface="Cambria" pitchFamily="34" charset="-120"/>
              </a:rPr>
              <a:t>Declared</a:t>
            </a:r>
            <a:endParaRPr lang="en-US" sz="2100" dirty="0"/>
          </a:p>
        </p:txBody>
      </p:sp>
      <p:sp>
        <p:nvSpPr>
          <p:cNvPr id="11" name="Text 9"/>
          <p:cNvSpPr txBox="1"/>
          <p:nvPr/>
        </p:nvSpPr>
        <p:spPr>
          <a:xfrm>
            <a:off x="6583680" y="2743200"/>
            <a:ext cx="4663440" cy="1097280"/>
          </a:xfrm>
          <a:prstGeom prst="rect">
            <a:avLst/>
          </a:prstGeom>
          <a:noFill/>
          <a:ln/>
        </p:spPr>
        <p:txBody>
          <a:bodyPr wrap="square" lIns="0" tIns="0" rIns="0" bIns="0" rtlCol="0" anchor="ctr"/>
          <a:lstStyle/>
          <a:p>
            <a:pPr indent="0" marL="0">
              <a:lnSpc>
                <a:spcPts val="1700"/>
              </a:lnSpc>
              <a:buNone/>
            </a:pPr>
            <a:r>
              <a:rPr lang="en-US" sz="1250" dirty="0">
                <a:solidFill>
                  <a:srgbClr val="9AA8A0"/>
                </a:solidFill>
                <a:latin typeface="Calibri" pitchFamily="34" charset="0"/>
                <a:ea typeface="Calibri" pitchFamily="34" charset="-122"/>
                <a:cs typeface="Calibri" pitchFamily="34" charset="-120"/>
              </a:rPr>
              <a:t>A municipality, a farm, a food factory says what</a:t>
            </a:r>
            <a:endParaRPr lang="en-US" sz="1250" dirty="0"/>
          </a:p>
          <a:p>
            <a:pPr indent="0" marL="0">
              <a:lnSpc>
                <a:spcPts val="1700"/>
              </a:lnSpc>
              <a:buNone/>
            </a:pPr>
            <a:r>
              <a:rPr lang="en-US" sz="1250" dirty="0">
                <a:solidFill>
                  <a:srgbClr val="9AA8A0"/>
                </a:solidFill>
                <a:latin typeface="Calibri" pitchFamily="34" charset="0"/>
                <a:ea typeface="Calibri" pitchFamily="34" charset="-122"/>
                <a:cs typeface="Calibri" pitchFamily="34" charset="-120"/>
              </a:rPr>
              <a:t>it has. This is the landfill pathway the problem</a:t>
            </a:r>
            <a:endParaRPr lang="en-US" sz="1250" dirty="0"/>
          </a:p>
          <a:p>
            <a:pPr indent="0" marL="0">
              <a:lnSpc>
                <a:spcPts val="1700"/>
              </a:lnSpc>
              <a:buNone/>
            </a:pPr>
            <a:r>
              <a:rPr lang="en-US" sz="1250" dirty="0">
                <a:solidFill>
                  <a:srgbClr val="9AA8A0"/>
                </a:solidFill>
                <a:latin typeface="Calibri" pitchFamily="34" charset="0"/>
                <a:ea typeface="Calibri" pitchFamily="34" charset="-122"/>
                <a:cs typeface="Calibri" pitchFamily="34" charset="-120"/>
              </a:rPr>
              <a:t>statement leads with - and the answer to a farm</a:t>
            </a:r>
            <a:endParaRPr lang="en-US" sz="1250" dirty="0"/>
          </a:p>
          <a:p>
            <a:pPr indent="0" marL="0">
              <a:lnSpc>
                <a:spcPts val="1700"/>
              </a:lnSpc>
              <a:buNone/>
            </a:pPr>
            <a:r>
              <a:rPr lang="en-US" sz="1250" dirty="0">
                <a:solidFill>
                  <a:srgbClr val="9AA8A0"/>
                </a:solidFill>
                <a:latin typeface="Calibri" pitchFamily="34" charset="0"/>
                <a:ea typeface="Calibri" pitchFamily="34" charset="-122"/>
                <a:cs typeface="Calibri" pitchFamily="34" charset="-120"/>
              </a:rPr>
              <a:t>under cloud.</a:t>
            </a:r>
            <a:endParaRPr lang="en-US" sz="1250" dirty="0"/>
          </a:p>
        </p:txBody>
      </p:sp>
      <p:sp>
        <p:nvSpPr>
          <p:cNvPr id="12" name="Text 10"/>
          <p:cNvSpPr txBox="1"/>
          <p:nvPr/>
        </p:nvSpPr>
        <p:spPr>
          <a:xfrm>
            <a:off x="6583680" y="3886200"/>
            <a:ext cx="4663440" cy="1097280"/>
          </a:xfrm>
          <a:prstGeom prst="rect">
            <a:avLst/>
          </a:prstGeom>
          <a:noFill/>
          <a:ln/>
        </p:spPr>
        <p:txBody>
          <a:bodyPr wrap="square" lIns="0" tIns="0" rIns="0" bIns="0" rtlCol="0" anchor="ctr"/>
          <a:lstStyle/>
          <a:p>
            <a:pPr indent="0" marL="0">
              <a:lnSpc>
                <a:spcPts val="1700"/>
              </a:lnSpc>
              <a:buNone/>
            </a:pPr>
            <a:r>
              <a:rPr lang="en-US" sz="1250" dirty="0">
                <a:solidFill>
                  <a:srgbClr val="2FD39B"/>
                </a:solidFill>
                <a:latin typeface="Calibri" pitchFamily="34" charset="0"/>
                <a:ea typeface="Calibri" pitchFamily="34" charset="-122"/>
                <a:cs typeface="Calibri" pitchFamily="34" charset="-120"/>
              </a:rPr>
              <a:t>Marked declared in the lot, in the ledger and on</a:t>
            </a:r>
            <a:endParaRPr lang="en-US" sz="1250" dirty="0"/>
          </a:p>
          <a:p>
            <a:pPr indent="0" marL="0">
              <a:lnSpc>
                <a:spcPts val="1700"/>
              </a:lnSpc>
              <a:buNone/>
            </a:pPr>
            <a:r>
              <a:rPr lang="en-US" sz="1250" dirty="0">
                <a:solidFill>
                  <a:srgbClr val="2FD39B"/>
                </a:solidFill>
                <a:latin typeface="Calibri" pitchFamily="34" charset="0"/>
                <a:ea typeface="Calibri" pitchFamily="34" charset="-122"/>
                <a:cs typeface="Calibri" pitchFamily="34" charset="-120"/>
              </a:rPr>
              <a:t>screen. A claim by someone who stands to be paid</a:t>
            </a:r>
            <a:endParaRPr lang="en-US" sz="1250" dirty="0"/>
          </a:p>
          <a:p>
            <a:pPr indent="0" marL="0">
              <a:lnSpc>
                <a:spcPts val="1700"/>
              </a:lnSpc>
              <a:buNone/>
            </a:pPr>
            <a:r>
              <a:rPr lang="en-US" sz="1250" dirty="0">
                <a:solidFill>
                  <a:srgbClr val="2FD39B"/>
                </a:solidFill>
                <a:latin typeface="Calibri" pitchFamily="34" charset="0"/>
                <a:ea typeface="Calibri" pitchFamily="34" charset="-122"/>
                <a:cs typeface="Calibri" pitchFamily="34" charset="-120"/>
              </a:rPr>
              <a:t>is not the same evidence as a satellite, and we</a:t>
            </a:r>
            <a:endParaRPr lang="en-US" sz="1250" dirty="0"/>
          </a:p>
          <a:p>
            <a:pPr indent="0" marL="0">
              <a:lnSpc>
                <a:spcPts val="1700"/>
              </a:lnSpc>
              <a:buNone/>
            </a:pPr>
            <a:r>
              <a:rPr lang="en-US" sz="1250" dirty="0">
                <a:solidFill>
                  <a:srgbClr val="2FD39B"/>
                </a:solidFill>
                <a:latin typeface="Calibri" pitchFamily="34" charset="0"/>
                <a:ea typeface="Calibri" pitchFamily="34" charset="-122"/>
                <a:cs typeface="Calibri" pitchFamily="34" charset="-120"/>
              </a:rPr>
              <a:t>never let the two look alike.</a:t>
            </a:r>
            <a:endParaRPr lang="en-US" sz="1250" dirty="0"/>
          </a:p>
        </p:txBody>
      </p:sp>
      <p:sp>
        <p:nvSpPr>
          <p:cNvPr id="13" name="Text 11"/>
          <p:cNvSpPr txBox="1"/>
          <p:nvPr/>
        </p:nvSpPr>
        <p:spPr>
          <a:xfrm>
            <a:off x="640080" y="5440680"/>
            <a:ext cx="10881360" cy="365760"/>
          </a:xfrm>
          <a:prstGeom prst="rect">
            <a:avLst/>
          </a:prstGeom>
          <a:noFill/>
          <a:ln/>
        </p:spPr>
        <p:txBody>
          <a:bodyPr wrap="square" lIns="0" tIns="0" rIns="0" bIns="0" rtlCol="0" anchor="ctr"/>
          <a:lstStyle/>
          <a:p>
            <a:pPr indent="0" marL="0">
              <a:buNone/>
            </a:pPr>
            <a:r>
              <a:rPr lang="en-US" sz="1350" dirty="0">
                <a:solidFill>
                  <a:srgbClr val="EEF2EE"/>
                </a:solidFill>
                <a:latin typeface="Calibri" pitchFamily="34" charset="0"/>
                <a:ea typeface="Calibri" pitchFamily="34" charset="-122"/>
                <a:cs typeface="Calibri" pitchFamily="34" charset="-120"/>
              </a:rPr>
              <a:t>Municipalities · farms · food and industrial waste generators · conversion facility operators - all four users the statement names.</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B0E0D"/>
          </a:solidFill>
          <a:ln/>
        </p:spPr>
      </p:sp>
      <p:sp>
        <p:nvSpPr>
          <p:cNvPr id="3" name="Text 1"/>
          <p:cNvSpPr txBox="1"/>
          <p:nvPr/>
        </p:nvSpPr>
        <p:spPr>
          <a:xfrm>
            <a:off x="640080" y="502920"/>
            <a:ext cx="5486400" cy="237744"/>
          </a:xfrm>
          <a:prstGeom prst="rect">
            <a:avLst/>
          </a:prstGeom>
          <a:noFill/>
          <a:ln/>
        </p:spPr>
        <p:txBody>
          <a:bodyPr wrap="square" lIns="0" tIns="0" rIns="0" bIns="0" rtlCol="0" anchor="ctr"/>
          <a:lstStyle/>
          <a:p>
            <a:pPr indent="0" marL="0">
              <a:buNone/>
            </a:pPr>
            <a:r>
              <a:rPr lang="en-US" sz="1000" b="1" spc="200" kern="0" dirty="0">
                <a:solidFill>
                  <a:srgbClr val="FFB02E"/>
                </a:solidFill>
                <a:latin typeface="Courier New" pitchFamily="34" charset="0"/>
                <a:ea typeface="Courier New" pitchFamily="34" charset="-122"/>
                <a:cs typeface="Courier New" pitchFamily="34" charset="-120"/>
              </a:rPr>
              <a:t>WHAT IS REAL, AND WHAT IS NOT</a:t>
            </a:r>
            <a:endParaRPr lang="en-US" sz="1000" dirty="0"/>
          </a:p>
        </p:txBody>
      </p:sp>
      <p:sp>
        <p:nvSpPr>
          <p:cNvPr id="4" name="Text 2"/>
          <p:cNvSpPr txBox="1"/>
          <p:nvPr/>
        </p:nvSpPr>
        <p:spPr>
          <a:xfrm>
            <a:off x="640080" y="914400"/>
            <a:ext cx="10881360" cy="914400"/>
          </a:xfrm>
          <a:prstGeom prst="rect">
            <a:avLst/>
          </a:prstGeom>
          <a:noFill/>
          <a:ln/>
        </p:spPr>
        <p:txBody>
          <a:bodyPr wrap="square" lIns="0" tIns="0" rIns="0" bIns="0" rtlCol="0" anchor="ctr"/>
          <a:lstStyle/>
          <a:p>
            <a:pPr indent="0" marL="0">
              <a:buNone/>
            </a:pPr>
            <a:r>
              <a:rPr lang="en-US" sz="3800" b="1" dirty="0">
                <a:solidFill>
                  <a:srgbClr val="EEF2EE"/>
                </a:solidFill>
                <a:latin typeface="Cambria" pitchFamily="34" charset="0"/>
                <a:ea typeface="Cambria" pitchFamily="34" charset="-122"/>
                <a:cs typeface="Cambria" pitchFamily="34" charset="-120"/>
              </a:rPr>
              <a:t>The screen that lists our own limitations</a:t>
            </a:r>
            <a:endParaRPr lang="en-US" sz="3800" dirty="0"/>
          </a:p>
        </p:txBody>
      </p:sp>
      <p:sp>
        <p:nvSpPr>
          <p:cNvPr id="5" name="Shape 3"/>
          <p:cNvSpPr/>
          <p:nvPr/>
        </p:nvSpPr>
        <p:spPr>
          <a:xfrm>
            <a:off x="640080" y="2057400"/>
            <a:ext cx="3383280" cy="3520440"/>
          </a:xfrm>
          <a:prstGeom prst="roundRect">
            <a:avLst>
              <a:gd name="adj" fmla="val 2162"/>
            </a:avLst>
          </a:prstGeom>
          <a:solidFill>
            <a:srgbClr val="151B19"/>
          </a:solidFill>
          <a:ln/>
        </p:spPr>
      </p:sp>
      <p:sp>
        <p:nvSpPr>
          <p:cNvPr id="6" name="Text 4"/>
          <p:cNvSpPr txBox="1"/>
          <p:nvPr/>
        </p:nvSpPr>
        <p:spPr>
          <a:xfrm>
            <a:off x="896112" y="2240280"/>
            <a:ext cx="2834640" cy="274320"/>
          </a:xfrm>
          <a:prstGeom prst="rect">
            <a:avLst/>
          </a:prstGeom>
          <a:noFill/>
          <a:ln/>
        </p:spPr>
        <p:txBody>
          <a:bodyPr wrap="square" lIns="0" tIns="0" rIns="0" bIns="0" rtlCol="0" anchor="ctr"/>
          <a:lstStyle/>
          <a:p>
            <a:pPr indent="0" marL="0">
              <a:buNone/>
            </a:pPr>
            <a:r>
              <a:rPr lang="en-US" sz="1200" b="1" spc="200" kern="0" dirty="0">
                <a:solidFill>
                  <a:srgbClr val="2FD39B"/>
                </a:solidFill>
                <a:latin typeface="Courier New" pitchFamily="34" charset="0"/>
                <a:ea typeface="Courier New" pitchFamily="34" charset="-122"/>
                <a:cs typeface="Courier New" pitchFamily="34" charset="-120"/>
              </a:rPr>
              <a:t>REAL</a:t>
            </a:r>
            <a:endParaRPr lang="en-US" sz="1200" dirty="0"/>
          </a:p>
        </p:txBody>
      </p:sp>
      <p:sp>
        <p:nvSpPr>
          <p:cNvPr id="7" name="Text 5"/>
          <p:cNvSpPr txBox="1"/>
          <p:nvPr/>
        </p:nvSpPr>
        <p:spPr>
          <a:xfrm>
            <a:off x="896112" y="2651760"/>
            <a:ext cx="2880360" cy="2743200"/>
          </a:xfrm>
          <a:prstGeom prst="rect">
            <a:avLst/>
          </a:prstGeom>
          <a:noFill/>
          <a:ln/>
        </p:spPr>
        <p:txBody>
          <a:bodyPr wrap="square" lIns="0" tIns="0" rIns="0" bIns="0" rtlCol="0" anchor="ctr"/>
          <a:lstStyle/>
          <a:p>
            <a:pPr marL="342900" indent="-342900">
              <a:lnSpc>
                <a:spcPts val="1500"/>
              </a:lnSpc>
              <a:spcAft>
                <a:spcPts val="900"/>
              </a:spcAft>
              <a:buSzPct val="100000"/>
              <a:buChar char="•"/>
            </a:pPr>
            <a:r>
              <a:rPr lang="en-US" sz="1150" dirty="0">
                <a:solidFill>
                  <a:srgbClr val="EEF2EE"/>
                </a:solidFill>
                <a:latin typeface="Calibri" pitchFamily="34" charset="0"/>
                <a:ea typeface="Calibri" pitchFamily="34" charset="-122"/>
                <a:cs typeface="Calibri" pitchFamily="34" charset="-120"/>
              </a:rPr>
              <a:t>A2A mesh, Agent Cards, JWT auth</a:t>
            </a:r>
            <a:endParaRPr lang="en-US" sz="1150" dirty="0"/>
          </a:p>
          <a:p>
            <a:pPr marL="342900" indent="-342900">
              <a:lnSpc>
                <a:spcPts val="1500"/>
              </a:lnSpc>
              <a:spcAft>
                <a:spcPts val="900"/>
              </a:spcAft>
              <a:buSzPct val="100000"/>
              <a:buChar char="•"/>
            </a:pPr>
            <a:r>
              <a:rPr lang="en-US" sz="1150" dirty="0">
                <a:solidFill>
                  <a:srgbClr val="EEF2EE"/>
                </a:solidFill>
                <a:latin typeface="Calibri" pitchFamily="34" charset="0"/>
                <a:ea typeface="Calibri" pitchFamily="34" charset="-122"/>
                <a:cs typeface="Calibri" pitchFamily="34" charset="-120"/>
              </a:rPr>
              <a:t>Hash-chained ledger, 50 concurrent appends</a:t>
            </a:r>
            <a:endParaRPr lang="en-US" sz="1150" dirty="0"/>
          </a:p>
          <a:p>
            <a:pPr marL="342900" indent="-342900">
              <a:lnSpc>
                <a:spcPts val="1500"/>
              </a:lnSpc>
              <a:spcAft>
                <a:spcPts val="900"/>
              </a:spcAft>
              <a:buSzPct val="100000"/>
              <a:buChar char="•"/>
            </a:pPr>
            <a:r>
              <a:rPr lang="en-US" sz="1150" dirty="0">
                <a:solidFill>
                  <a:srgbClr val="EEF2EE"/>
                </a:solidFill>
                <a:latin typeface="Calibri" pitchFamily="34" charset="0"/>
                <a:ea typeface="Calibri" pitchFamily="34" charset="-122"/>
                <a:cs typeface="Calibri" pitchFamily="34" charset="-120"/>
              </a:rPr>
              <a:t>W3C credentials, checked in your browser</a:t>
            </a:r>
            <a:endParaRPr lang="en-US" sz="1150" dirty="0"/>
          </a:p>
          <a:p>
            <a:pPr marL="342900" indent="-342900">
              <a:lnSpc>
                <a:spcPts val="1500"/>
              </a:lnSpc>
              <a:spcAft>
                <a:spcPts val="900"/>
              </a:spcAft>
              <a:buSzPct val="100000"/>
              <a:buChar char="•"/>
            </a:pPr>
            <a:r>
              <a:rPr lang="en-US" sz="1150" dirty="0">
                <a:solidFill>
                  <a:srgbClr val="EEF2EE"/>
                </a:solidFill>
                <a:latin typeface="Calibri" pitchFamily="34" charset="0"/>
                <a:ea typeface="Calibri" pitchFamily="34" charset="-122"/>
                <a:cs typeface="Calibri" pitchFamily="34" charset="-120"/>
              </a:rPr>
              <a:t>ONNX in two runtimes, parity-tested</a:t>
            </a:r>
            <a:endParaRPr lang="en-US" sz="1150" dirty="0"/>
          </a:p>
          <a:p>
            <a:pPr marL="342900" indent="-342900">
              <a:lnSpc>
                <a:spcPts val="1500"/>
              </a:lnSpc>
              <a:spcAft>
                <a:spcPts val="900"/>
              </a:spcAft>
              <a:buSzPct val="100000"/>
              <a:buChar char="•"/>
            </a:pPr>
            <a:r>
              <a:rPr lang="en-US" sz="1150" dirty="0">
                <a:solidFill>
                  <a:srgbClr val="EEF2EE"/>
                </a:solidFill>
                <a:latin typeface="Calibri" pitchFamily="34" charset="0"/>
                <a:ea typeface="Calibri" pitchFamily="34" charset="-122"/>
                <a:cs typeface="Calibri" pitchFamily="34" charset="-120"/>
              </a:rPr>
              <a:t>One photograph, one credit</a:t>
            </a:r>
            <a:endParaRPr lang="en-US" sz="1150" dirty="0"/>
          </a:p>
        </p:txBody>
      </p:sp>
      <p:sp>
        <p:nvSpPr>
          <p:cNvPr id="8" name="Shape 6"/>
          <p:cNvSpPr/>
          <p:nvPr/>
        </p:nvSpPr>
        <p:spPr>
          <a:xfrm>
            <a:off x="4389120" y="2057400"/>
            <a:ext cx="3383280" cy="3520440"/>
          </a:xfrm>
          <a:prstGeom prst="roundRect">
            <a:avLst>
              <a:gd name="adj" fmla="val 2162"/>
            </a:avLst>
          </a:prstGeom>
          <a:solidFill>
            <a:srgbClr val="151B19"/>
          </a:solidFill>
          <a:ln/>
        </p:spPr>
      </p:sp>
      <p:sp>
        <p:nvSpPr>
          <p:cNvPr id="9" name="Text 7"/>
          <p:cNvSpPr txBox="1"/>
          <p:nvPr/>
        </p:nvSpPr>
        <p:spPr>
          <a:xfrm>
            <a:off x="4645152" y="2240280"/>
            <a:ext cx="2834640" cy="274320"/>
          </a:xfrm>
          <a:prstGeom prst="rect">
            <a:avLst/>
          </a:prstGeom>
          <a:noFill/>
          <a:ln/>
        </p:spPr>
        <p:txBody>
          <a:bodyPr wrap="square" lIns="0" tIns="0" rIns="0" bIns="0" rtlCol="0" anchor="ctr"/>
          <a:lstStyle/>
          <a:p>
            <a:pPr indent="0" marL="0">
              <a:buNone/>
            </a:pPr>
            <a:r>
              <a:rPr lang="en-US" sz="1200" b="1" spc="200" kern="0" dirty="0">
                <a:solidFill>
                  <a:srgbClr val="FFB02E"/>
                </a:solidFill>
                <a:latin typeface="Courier New" pitchFamily="34" charset="0"/>
                <a:ea typeface="Courier New" pitchFamily="34" charset="-122"/>
                <a:cs typeface="Courier New" pitchFamily="34" charset="-120"/>
              </a:rPr>
              <a:t>PARTIAL</a:t>
            </a:r>
            <a:endParaRPr lang="en-US" sz="1200" dirty="0"/>
          </a:p>
        </p:txBody>
      </p:sp>
      <p:sp>
        <p:nvSpPr>
          <p:cNvPr id="10" name="Text 8"/>
          <p:cNvSpPr txBox="1"/>
          <p:nvPr/>
        </p:nvSpPr>
        <p:spPr>
          <a:xfrm>
            <a:off x="4645152" y="2651760"/>
            <a:ext cx="2880360" cy="2743200"/>
          </a:xfrm>
          <a:prstGeom prst="rect">
            <a:avLst/>
          </a:prstGeom>
          <a:noFill/>
          <a:ln/>
        </p:spPr>
        <p:txBody>
          <a:bodyPr wrap="square" lIns="0" tIns="0" rIns="0" bIns="0" rtlCol="0" anchor="ctr"/>
          <a:lstStyle/>
          <a:p>
            <a:pPr marL="342900" indent="-342900">
              <a:lnSpc>
                <a:spcPts val="1500"/>
              </a:lnSpc>
              <a:spcAft>
                <a:spcPts val="900"/>
              </a:spcAft>
              <a:buSzPct val="100000"/>
              <a:buChar char="•"/>
            </a:pPr>
            <a:r>
              <a:rPr lang="en-US" sz="1150" dirty="0">
                <a:solidFill>
                  <a:srgbClr val="EEF2EE"/>
                </a:solidFill>
                <a:latin typeface="Calibri" pitchFamily="34" charset="0"/>
                <a:ea typeface="Calibri" pitchFamily="34" charset="-122"/>
                <a:cs typeface="Calibri" pitchFamily="34" charset="-120"/>
              </a:rPr>
              <a:t>Char model is a documented colour</a:t>
            </a:r>
            <a:endParaRPr lang="en-US" sz="1150" dirty="0"/>
          </a:p>
          <a:p>
            <a:pPr marL="342900" indent="-342900">
              <a:lnSpc>
                <a:spcPts val="1500"/>
              </a:lnSpc>
              <a:spcAft>
                <a:spcPts val="900"/>
              </a:spcAft>
              <a:buSzPct val="100000"/>
              <a:buChar char="•"/>
            </a:pPr>
            <a:r>
              <a:rPr lang="en-US" sz="1150" dirty="0">
                <a:solidFill>
                  <a:srgbClr val="EEF2EE"/>
                </a:solidFill>
                <a:latin typeface="Calibri" pitchFamily="34" charset="0"/>
                <a:ea typeface="Calibri" pitchFamily="34" charset="-122"/>
                <a:cs typeface="Calibri" pitchFamily="34" charset="-120"/>
              </a:rPr>
              <a:t>heuristic - NOT a trained classifier</a:t>
            </a:r>
            <a:endParaRPr lang="en-US" sz="1150" dirty="0"/>
          </a:p>
          <a:p>
            <a:pPr marL="342900" indent="-342900">
              <a:lnSpc>
                <a:spcPts val="1500"/>
              </a:lnSpc>
              <a:spcAft>
                <a:spcPts val="900"/>
              </a:spcAft>
              <a:buSzPct val="100000"/>
              <a:buChar char="•"/>
            </a:pPr>
            <a:r>
              <a:rPr lang="en-US" sz="1150" dirty="0">
                <a:solidFill>
                  <a:srgbClr val="EEF2EE"/>
                </a:solidFill>
                <a:latin typeface="Calibri" pitchFamily="34" charset="0"/>
                <a:ea typeface="Calibri" pitchFamily="34" charset="-122"/>
                <a:cs typeface="Calibri" pitchFamily="34" charset="-120"/>
              </a:rPr>
              <a:t>Retirement checks a holder field,</a:t>
            </a:r>
            <a:endParaRPr lang="en-US" sz="1150" dirty="0"/>
          </a:p>
          <a:p>
            <a:pPr marL="342900" indent="-342900">
              <a:lnSpc>
                <a:spcPts val="1500"/>
              </a:lnSpc>
              <a:spcAft>
                <a:spcPts val="900"/>
              </a:spcAft>
              <a:buSzPct val="100000"/>
              <a:buChar char="•"/>
            </a:pPr>
            <a:r>
              <a:rPr lang="en-US" sz="1150" dirty="0">
                <a:solidFill>
                  <a:srgbClr val="EEF2EE"/>
                </a:solidFill>
                <a:latin typeface="Calibri" pitchFamily="34" charset="0"/>
                <a:ea typeface="Calibri" pitchFamily="34" charset="-122"/>
                <a:cs typeface="Calibri" pitchFamily="34" charset="-120"/>
              </a:rPr>
              <a:t>not a proven identity</a:t>
            </a:r>
            <a:endParaRPr lang="en-US" sz="1150" dirty="0"/>
          </a:p>
          <a:p>
            <a:pPr marL="342900" indent="-342900">
              <a:lnSpc>
                <a:spcPts val="1500"/>
              </a:lnSpc>
              <a:spcAft>
                <a:spcPts val="900"/>
              </a:spcAft>
              <a:buSzPct val="100000"/>
              <a:buChar char="•"/>
            </a:pPr>
            <a:r>
              <a:rPr lang="en-US" sz="1150" dirty="0">
                <a:solidFill>
                  <a:srgbClr val="EEF2EE"/>
                </a:solidFill>
                <a:latin typeface="Calibri" pitchFamily="34" charset="0"/>
                <a:ea typeface="Calibri" pitchFamily="34" charset="-122"/>
                <a:cs typeface="Calibri" pitchFamily="34" charset="-120"/>
              </a:rPr>
              <a:t>Queue is in-memory behind a</a:t>
            </a:r>
            <a:endParaRPr lang="en-US" sz="1150" dirty="0"/>
          </a:p>
          <a:p>
            <a:pPr marL="342900" indent="-342900">
              <a:lnSpc>
                <a:spcPts val="1500"/>
              </a:lnSpc>
              <a:spcAft>
                <a:spcPts val="900"/>
              </a:spcAft>
              <a:buSzPct val="100000"/>
              <a:buChar char="•"/>
            </a:pPr>
            <a:r>
              <a:rPr lang="en-US" sz="1150" dirty="0">
                <a:solidFill>
                  <a:srgbClr val="EEF2EE"/>
                </a:solidFill>
                <a:latin typeface="Calibri" pitchFamily="34" charset="0"/>
                <a:ea typeface="Calibri" pitchFamily="34" charset="-122"/>
                <a:cs typeface="Calibri" pitchFamily="34" charset="-120"/>
              </a:rPr>
              <a:t>broker-shaped interface</a:t>
            </a:r>
            <a:endParaRPr lang="en-US" sz="1150" dirty="0"/>
          </a:p>
        </p:txBody>
      </p:sp>
      <p:sp>
        <p:nvSpPr>
          <p:cNvPr id="11" name="Shape 9"/>
          <p:cNvSpPr/>
          <p:nvPr/>
        </p:nvSpPr>
        <p:spPr>
          <a:xfrm>
            <a:off x="8138160" y="2057400"/>
            <a:ext cx="3383280" cy="3520440"/>
          </a:xfrm>
          <a:prstGeom prst="roundRect">
            <a:avLst>
              <a:gd name="adj" fmla="val 2162"/>
            </a:avLst>
          </a:prstGeom>
          <a:solidFill>
            <a:srgbClr val="151B19"/>
          </a:solidFill>
          <a:ln/>
        </p:spPr>
      </p:sp>
      <p:sp>
        <p:nvSpPr>
          <p:cNvPr id="12" name="Text 10"/>
          <p:cNvSpPr txBox="1"/>
          <p:nvPr/>
        </p:nvSpPr>
        <p:spPr>
          <a:xfrm>
            <a:off x="8394192" y="2240280"/>
            <a:ext cx="2834640" cy="274320"/>
          </a:xfrm>
          <a:prstGeom prst="rect">
            <a:avLst/>
          </a:prstGeom>
          <a:noFill/>
          <a:ln/>
        </p:spPr>
        <p:txBody>
          <a:bodyPr wrap="square" lIns="0" tIns="0" rIns="0" bIns="0" rtlCol="0" anchor="ctr"/>
          <a:lstStyle/>
          <a:p>
            <a:pPr indent="0" marL="0">
              <a:buNone/>
            </a:pPr>
            <a:r>
              <a:rPr lang="en-US" sz="1200" b="1" spc="200" kern="0" dirty="0">
                <a:solidFill>
                  <a:srgbClr val="6F7D75"/>
                </a:solidFill>
                <a:latin typeface="Courier New" pitchFamily="34" charset="0"/>
                <a:ea typeface="Courier New" pitchFamily="34" charset="-122"/>
                <a:cs typeface="Courier New" pitchFamily="34" charset="-120"/>
              </a:rPr>
              <a:t>NOT BUILT</a:t>
            </a:r>
            <a:endParaRPr lang="en-US" sz="1200" dirty="0"/>
          </a:p>
        </p:txBody>
      </p:sp>
      <p:sp>
        <p:nvSpPr>
          <p:cNvPr id="13" name="Text 11"/>
          <p:cNvSpPr txBox="1"/>
          <p:nvPr/>
        </p:nvSpPr>
        <p:spPr>
          <a:xfrm>
            <a:off x="8394192" y="2651760"/>
            <a:ext cx="2880360" cy="2743200"/>
          </a:xfrm>
          <a:prstGeom prst="rect">
            <a:avLst/>
          </a:prstGeom>
          <a:noFill/>
          <a:ln/>
        </p:spPr>
        <p:txBody>
          <a:bodyPr wrap="square" lIns="0" tIns="0" rIns="0" bIns="0" rtlCol="0" anchor="ctr"/>
          <a:lstStyle/>
          <a:p>
            <a:pPr marL="342900" indent="-342900">
              <a:lnSpc>
                <a:spcPts val="1500"/>
              </a:lnSpc>
              <a:spcAft>
                <a:spcPts val="900"/>
              </a:spcAft>
              <a:buSzPct val="100000"/>
              <a:buChar char="•"/>
            </a:pPr>
            <a:r>
              <a:rPr lang="en-US" sz="1150" dirty="0">
                <a:solidFill>
                  <a:srgbClr val="EEF2EE"/>
                </a:solidFill>
                <a:latin typeface="Calibri" pitchFamily="34" charset="0"/>
                <a:ea typeface="Calibri" pitchFamily="34" charset="-122"/>
                <a:cs typeface="Calibri" pitchFamily="34" charset="-120"/>
              </a:rPr>
              <a:t>No blockchain - a hash chain gives</a:t>
            </a:r>
            <a:endParaRPr lang="en-US" sz="1150" dirty="0"/>
          </a:p>
          <a:p>
            <a:pPr marL="342900" indent="-342900">
              <a:lnSpc>
                <a:spcPts val="1500"/>
              </a:lnSpc>
              <a:spcAft>
                <a:spcPts val="900"/>
              </a:spcAft>
              <a:buSzPct val="100000"/>
              <a:buChar char="•"/>
            </a:pPr>
            <a:r>
              <a:rPr lang="en-US" sz="1150" dirty="0">
                <a:solidFill>
                  <a:srgbClr val="EEF2EE"/>
                </a:solidFill>
                <a:latin typeface="Calibri" pitchFamily="34" charset="0"/>
                <a:ea typeface="Calibri" pitchFamily="34" charset="-122"/>
                <a:cs typeface="Calibri" pitchFamily="34" charset="-120"/>
              </a:rPr>
              <a:t>tamper-evidence without a token</a:t>
            </a:r>
            <a:endParaRPr lang="en-US" sz="1150" dirty="0"/>
          </a:p>
          <a:p>
            <a:pPr marL="342900" indent="-342900">
              <a:lnSpc>
                <a:spcPts val="1500"/>
              </a:lnSpc>
              <a:spcAft>
                <a:spcPts val="900"/>
              </a:spcAft>
              <a:buSzPct val="100000"/>
              <a:buChar char="•"/>
            </a:pPr>
            <a:r>
              <a:rPr lang="en-US" sz="1150" dirty="0">
                <a:solidFill>
                  <a:srgbClr val="EEF2EE"/>
                </a:solidFill>
                <a:latin typeface="Calibri" pitchFamily="34" charset="0"/>
                <a:ea typeface="Calibri" pitchFamily="34" charset="-122"/>
                <a:cs typeface="Calibri" pitchFamily="34" charset="-120"/>
              </a:rPr>
              <a:t>No route solver - we optimise</a:t>
            </a:r>
            <a:endParaRPr lang="en-US" sz="1150" dirty="0"/>
          </a:p>
          <a:p>
            <a:pPr marL="342900" indent="-342900">
              <a:lnSpc>
                <a:spcPts val="1500"/>
              </a:lnSpc>
              <a:spcAft>
                <a:spcPts val="900"/>
              </a:spcAft>
              <a:buSzPct val="100000"/>
              <a:buChar char="•"/>
            </a:pPr>
            <a:r>
              <a:rPr lang="en-US" sz="1150" dirty="0">
                <a:solidFill>
                  <a:srgbClr val="EEF2EE"/>
                </a:solidFill>
                <a:latin typeface="Calibri" pitchFamily="34" charset="0"/>
                <a:ea typeface="Calibri" pitchFamily="34" charset="-122"/>
                <a:cs typeface="Calibri" pitchFamily="34" charset="-120"/>
              </a:rPr>
              <a:t>assignment on transport CO2</a:t>
            </a:r>
            <a:endParaRPr lang="en-US" sz="1150" dirty="0"/>
          </a:p>
          <a:p>
            <a:pPr marL="342900" indent="-342900">
              <a:lnSpc>
                <a:spcPts val="1500"/>
              </a:lnSpc>
              <a:spcAft>
                <a:spcPts val="900"/>
              </a:spcAft>
              <a:buSzPct val="100000"/>
              <a:buChar char="•"/>
            </a:pPr>
            <a:r>
              <a:rPr lang="en-US" sz="1150" dirty="0">
                <a:solidFill>
                  <a:srgbClr val="EEF2EE"/>
                </a:solidFill>
                <a:latin typeface="Calibri" pitchFamily="34" charset="0"/>
                <a:ea typeface="Calibri" pitchFamily="34" charset="-122"/>
                <a:cs typeface="Calibri" pitchFamily="34" charset="-120"/>
              </a:rPr>
              <a:t>No third-party security audit</a:t>
            </a:r>
            <a:endParaRPr lang="en-US" sz="1150" dirty="0"/>
          </a:p>
        </p:txBody>
      </p:sp>
      <p:sp>
        <p:nvSpPr>
          <p:cNvPr id="14" name="Text 12"/>
          <p:cNvSpPr txBox="1"/>
          <p:nvPr/>
        </p:nvSpPr>
        <p:spPr>
          <a:xfrm>
            <a:off x="640080" y="5852160"/>
            <a:ext cx="10881360" cy="365760"/>
          </a:xfrm>
          <a:prstGeom prst="rect">
            <a:avLst/>
          </a:prstGeom>
          <a:noFill/>
          <a:ln/>
        </p:spPr>
        <p:txBody>
          <a:bodyPr wrap="square" lIns="0" tIns="0" rIns="0" bIns="0" rtlCol="0" anchor="ctr"/>
          <a:lstStyle/>
          <a:p>
            <a:pPr indent="0" marL="0">
              <a:buNone/>
            </a:pPr>
            <a:r>
              <a:rPr lang="en-US" sz="1350" i="1" dirty="0">
                <a:solidFill>
                  <a:srgbClr val="FFB02E"/>
                </a:solidFill>
                <a:latin typeface="Calibri" pitchFamily="34" charset="0"/>
                <a:ea typeface="Calibri" pitchFamily="34" charset="-122"/>
                <a:cs typeface="Calibri" pitchFamily="34" charset="-120"/>
              </a:rPr>
              <a:t>A judge who finds an overclaim stops believing the rest. A judge who finds the limitation already written down believes more of it.</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0B0E0D"/>
          </a:solidFill>
          <a:ln/>
        </p:spPr>
      </p:sp>
      <p:sp>
        <p:nvSpPr>
          <p:cNvPr id="3" name="Text 1"/>
          <p:cNvSpPr txBox="1"/>
          <p:nvPr/>
        </p:nvSpPr>
        <p:spPr>
          <a:xfrm>
            <a:off x="640080" y="502920"/>
            <a:ext cx="5486400" cy="237744"/>
          </a:xfrm>
          <a:prstGeom prst="rect">
            <a:avLst/>
          </a:prstGeom>
          <a:noFill/>
          <a:ln/>
        </p:spPr>
        <p:txBody>
          <a:bodyPr wrap="square" lIns="0" tIns="0" rIns="0" bIns="0" rtlCol="0" anchor="ctr"/>
          <a:lstStyle/>
          <a:p>
            <a:pPr indent="0" marL="0">
              <a:buNone/>
            </a:pPr>
            <a:r>
              <a:rPr lang="en-US" sz="1000" b="1" spc="200" kern="0" dirty="0">
                <a:solidFill>
                  <a:srgbClr val="FFB02E"/>
                </a:solidFill>
                <a:latin typeface="Courier New" pitchFamily="34" charset="0"/>
                <a:ea typeface="Courier New" pitchFamily="34" charset="-122"/>
                <a:cs typeface="Courier New" pitchFamily="34" charset="-120"/>
              </a:rPr>
              <a:t>SHIPPED AND RUNNING</a:t>
            </a:r>
            <a:endParaRPr lang="en-US" sz="1000" dirty="0"/>
          </a:p>
        </p:txBody>
      </p:sp>
      <p:sp>
        <p:nvSpPr>
          <p:cNvPr id="4" name="Text 2"/>
          <p:cNvSpPr txBox="1"/>
          <p:nvPr/>
        </p:nvSpPr>
        <p:spPr>
          <a:xfrm>
            <a:off x="640080" y="914400"/>
            <a:ext cx="10881360" cy="914400"/>
          </a:xfrm>
          <a:prstGeom prst="rect">
            <a:avLst/>
          </a:prstGeom>
          <a:noFill/>
          <a:ln/>
        </p:spPr>
        <p:txBody>
          <a:bodyPr wrap="square" lIns="0" tIns="0" rIns="0" bIns="0" rtlCol="0" anchor="ctr"/>
          <a:lstStyle/>
          <a:p>
            <a:pPr indent="0" marL="0">
              <a:buNone/>
            </a:pPr>
            <a:r>
              <a:rPr lang="en-US" sz="3800" b="1" dirty="0">
                <a:solidFill>
                  <a:srgbClr val="EEF2EE"/>
                </a:solidFill>
                <a:latin typeface="Cambria" pitchFamily="34" charset="0"/>
                <a:ea typeface="Cambria" pitchFamily="34" charset="-122"/>
                <a:cs typeface="Cambria" pitchFamily="34" charset="-120"/>
              </a:rPr>
              <a:t>Numbers from the live deployment</a:t>
            </a:r>
            <a:endParaRPr lang="en-US" sz="3800" dirty="0"/>
          </a:p>
        </p:txBody>
      </p:sp>
      <p:sp>
        <p:nvSpPr>
          <p:cNvPr id="5" name="Shape 3"/>
          <p:cNvSpPr/>
          <p:nvPr/>
        </p:nvSpPr>
        <p:spPr>
          <a:xfrm>
            <a:off x="640080" y="2103120"/>
            <a:ext cx="2560320" cy="1463040"/>
          </a:xfrm>
          <a:prstGeom prst="roundRect">
            <a:avLst>
              <a:gd name="adj" fmla="val 5000"/>
            </a:avLst>
          </a:prstGeom>
          <a:solidFill>
            <a:srgbClr val="151B19"/>
          </a:solidFill>
          <a:ln/>
        </p:spPr>
      </p:sp>
      <p:sp>
        <p:nvSpPr>
          <p:cNvPr id="6" name="Text 4"/>
          <p:cNvSpPr txBox="1"/>
          <p:nvPr/>
        </p:nvSpPr>
        <p:spPr>
          <a:xfrm>
            <a:off x="868680" y="2331720"/>
            <a:ext cx="2103120" cy="594360"/>
          </a:xfrm>
          <a:prstGeom prst="rect">
            <a:avLst/>
          </a:prstGeom>
          <a:noFill/>
          <a:ln/>
        </p:spPr>
        <p:txBody>
          <a:bodyPr wrap="square" lIns="0" tIns="0" rIns="0" bIns="0" rtlCol="0" anchor="ctr"/>
          <a:lstStyle/>
          <a:p>
            <a:pPr indent="0" marL="0">
              <a:buNone/>
            </a:pPr>
            <a:r>
              <a:rPr lang="en-US" sz="3000" b="1" dirty="0">
                <a:solidFill>
                  <a:srgbClr val="2FD39B"/>
                </a:solidFill>
                <a:latin typeface="Cambria" pitchFamily="34" charset="0"/>
                <a:ea typeface="Cambria" pitchFamily="34" charset="-122"/>
                <a:cs typeface="Cambria" pitchFamily="34" charset="-120"/>
              </a:rPr>
              <a:t>643</a:t>
            </a:r>
            <a:endParaRPr lang="en-US" sz="3000" dirty="0"/>
          </a:p>
        </p:txBody>
      </p:sp>
      <p:sp>
        <p:nvSpPr>
          <p:cNvPr id="7" name="Text 5"/>
          <p:cNvSpPr txBox="1"/>
          <p:nvPr/>
        </p:nvSpPr>
        <p:spPr>
          <a:xfrm>
            <a:off x="868680" y="2971800"/>
            <a:ext cx="2194560" cy="1097280"/>
          </a:xfrm>
          <a:prstGeom prst="rect">
            <a:avLst/>
          </a:prstGeom>
          <a:noFill/>
          <a:ln/>
        </p:spPr>
        <p:txBody>
          <a:bodyPr wrap="square" lIns="0" tIns="0" rIns="0" bIns="0" rtlCol="0" anchor="ctr"/>
          <a:lstStyle/>
          <a:p>
            <a:pPr indent="0" marL="0">
              <a:lnSpc>
                <a:spcPts val="1500"/>
              </a:lnSpc>
              <a:buNone/>
            </a:pPr>
            <a:r>
              <a:rPr lang="en-US" sz="1200" dirty="0">
                <a:solidFill>
                  <a:srgbClr val="9AA8A0"/>
                </a:solidFill>
                <a:latin typeface="Calibri" pitchFamily="34" charset="0"/>
                <a:ea typeface="Calibri" pitchFamily="34" charset="-122"/>
                <a:cs typeface="Calibri" pitchFamily="34" charset="-120"/>
              </a:rPr>
              <a:t>tests, 0 skipped</a:t>
            </a:r>
            <a:endParaRPr lang="en-US" sz="1200" dirty="0"/>
          </a:p>
        </p:txBody>
      </p:sp>
      <p:sp>
        <p:nvSpPr>
          <p:cNvPr id="8" name="Shape 6"/>
          <p:cNvSpPr/>
          <p:nvPr/>
        </p:nvSpPr>
        <p:spPr>
          <a:xfrm>
            <a:off x="3419856" y="2103120"/>
            <a:ext cx="2560320" cy="1463040"/>
          </a:xfrm>
          <a:prstGeom prst="roundRect">
            <a:avLst>
              <a:gd name="adj" fmla="val 5000"/>
            </a:avLst>
          </a:prstGeom>
          <a:solidFill>
            <a:srgbClr val="151B19"/>
          </a:solidFill>
          <a:ln/>
        </p:spPr>
      </p:sp>
      <p:sp>
        <p:nvSpPr>
          <p:cNvPr id="9" name="Text 7"/>
          <p:cNvSpPr txBox="1"/>
          <p:nvPr/>
        </p:nvSpPr>
        <p:spPr>
          <a:xfrm>
            <a:off x="3648456" y="2331720"/>
            <a:ext cx="2103120" cy="594360"/>
          </a:xfrm>
          <a:prstGeom prst="rect">
            <a:avLst/>
          </a:prstGeom>
          <a:noFill/>
          <a:ln/>
        </p:spPr>
        <p:txBody>
          <a:bodyPr wrap="square" lIns="0" tIns="0" rIns="0" bIns="0" rtlCol="0" anchor="ctr"/>
          <a:lstStyle/>
          <a:p>
            <a:pPr indent="0" marL="0">
              <a:buNone/>
            </a:pPr>
            <a:r>
              <a:rPr lang="en-US" sz="3000" b="1" dirty="0">
                <a:solidFill>
                  <a:srgbClr val="2FD39B"/>
                </a:solidFill>
                <a:latin typeface="Cambria" pitchFamily="34" charset="0"/>
                <a:ea typeface="Cambria" pitchFamily="34" charset="-122"/>
                <a:cs typeface="Cambria" pitchFamily="34" charset="-120"/>
              </a:rPr>
              <a:t>92</a:t>
            </a:r>
            <a:endParaRPr lang="en-US" sz="3000" dirty="0"/>
          </a:p>
        </p:txBody>
      </p:sp>
      <p:sp>
        <p:nvSpPr>
          <p:cNvPr id="10" name="Text 8"/>
          <p:cNvSpPr txBox="1"/>
          <p:nvPr/>
        </p:nvSpPr>
        <p:spPr>
          <a:xfrm>
            <a:off x="3648456" y="2971800"/>
            <a:ext cx="2194560" cy="1097280"/>
          </a:xfrm>
          <a:prstGeom prst="rect">
            <a:avLst/>
          </a:prstGeom>
          <a:noFill/>
          <a:ln/>
        </p:spPr>
        <p:txBody>
          <a:bodyPr wrap="square" lIns="0" tIns="0" rIns="0" bIns="0" rtlCol="0" anchor="ctr"/>
          <a:lstStyle/>
          <a:p>
            <a:pPr indent="0" marL="0">
              <a:lnSpc>
                <a:spcPts val="1500"/>
              </a:lnSpc>
              <a:buNone/>
            </a:pPr>
            <a:r>
              <a:rPr lang="en-US" sz="1200" dirty="0">
                <a:solidFill>
                  <a:srgbClr val="9AA8A0"/>
                </a:solidFill>
                <a:latin typeface="Calibri" pitchFamily="34" charset="0"/>
                <a:ea typeface="Calibri" pitchFamily="34" charset="-122"/>
                <a:cs typeface="Calibri" pitchFamily="34" charset="-120"/>
              </a:rPr>
              <a:t>ledger records, chain valid</a:t>
            </a:r>
            <a:endParaRPr lang="en-US" sz="1200" dirty="0"/>
          </a:p>
        </p:txBody>
      </p:sp>
      <p:sp>
        <p:nvSpPr>
          <p:cNvPr id="11" name="Shape 9"/>
          <p:cNvSpPr/>
          <p:nvPr/>
        </p:nvSpPr>
        <p:spPr>
          <a:xfrm>
            <a:off x="6199632" y="2103120"/>
            <a:ext cx="2560320" cy="1463040"/>
          </a:xfrm>
          <a:prstGeom prst="roundRect">
            <a:avLst>
              <a:gd name="adj" fmla="val 5000"/>
            </a:avLst>
          </a:prstGeom>
          <a:solidFill>
            <a:srgbClr val="151B19"/>
          </a:solidFill>
          <a:ln/>
        </p:spPr>
      </p:sp>
      <p:sp>
        <p:nvSpPr>
          <p:cNvPr id="12" name="Text 10"/>
          <p:cNvSpPr txBox="1"/>
          <p:nvPr/>
        </p:nvSpPr>
        <p:spPr>
          <a:xfrm>
            <a:off x="6428232" y="2331720"/>
            <a:ext cx="2103120" cy="594360"/>
          </a:xfrm>
          <a:prstGeom prst="rect">
            <a:avLst/>
          </a:prstGeom>
          <a:noFill/>
          <a:ln/>
        </p:spPr>
        <p:txBody>
          <a:bodyPr wrap="square" lIns="0" tIns="0" rIns="0" bIns="0" rtlCol="0" anchor="ctr"/>
          <a:lstStyle/>
          <a:p>
            <a:pPr indent="0" marL="0">
              <a:buNone/>
            </a:pPr>
            <a:r>
              <a:rPr lang="en-US" sz="3000" b="1" dirty="0">
                <a:solidFill>
                  <a:srgbClr val="2FD39B"/>
                </a:solidFill>
                <a:latin typeface="Cambria" pitchFamily="34" charset="0"/>
                <a:ea typeface="Cambria" pitchFamily="34" charset="-122"/>
                <a:cs typeface="Cambria" pitchFamily="34" charset="-120"/>
              </a:rPr>
              <a:t>15/15</a:t>
            </a:r>
            <a:endParaRPr lang="en-US" sz="3000" dirty="0"/>
          </a:p>
        </p:txBody>
      </p:sp>
      <p:sp>
        <p:nvSpPr>
          <p:cNvPr id="13" name="Text 11"/>
          <p:cNvSpPr txBox="1"/>
          <p:nvPr/>
        </p:nvSpPr>
        <p:spPr>
          <a:xfrm>
            <a:off x="6428232" y="2971800"/>
            <a:ext cx="2194560" cy="1097280"/>
          </a:xfrm>
          <a:prstGeom prst="rect">
            <a:avLst/>
          </a:prstGeom>
          <a:noFill/>
          <a:ln/>
        </p:spPr>
        <p:txBody>
          <a:bodyPr wrap="square" lIns="0" tIns="0" rIns="0" bIns="0" rtlCol="0" anchor="ctr"/>
          <a:lstStyle/>
          <a:p>
            <a:pPr indent="0" marL="0">
              <a:lnSpc>
                <a:spcPts val="1500"/>
              </a:lnSpc>
              <a:buNone/>
            </a:pPr>
            <a:r>
              <a:rPr lang="en-US" sz="1200" dirty="0">
                <a:solidFill>
                  <a:srgbClr val="9AA8A0"/>
                </a:solidFill>
                <a:latin typeface="Calibri" pitchFamily="34" charset="0"/>
                <a:ea typeface="Calibri" pitchFamily="34" charset="-122"/>
                <a:cs typeface="Calibri" pitchFamily="34" charset="-120"/>
              </a:rPr>
              <a:t>end-to-end stages pass</a:t>
            </a:r>
            <a:endParaRPr lang="en-US" sz="1200" dirty="0"/>
          </a:p>
        </p:txBody>
      </p:sp>
      <p:sp>
        <p:nvSpPr>
          <p:cNvPr id="14" name="Shape 12"/>
          <p:cNvSpPr/>
          <p:nvPr/>
        </p:nvSpPr>
        <p:spPr>
          <a:xfrm>
            <a:off x="8979408" y="2103120"/>
            <a:ext cx="2560320" cy="1463040"/>
          </a:xfrm>
          <a:prstGeom prst="roundRect">
            <a:avLst>
              <a:gd name="adj" fmla="val 5000"/>
            </a:avLst>
          </a:prstGeom>
          <a:solidFill>
            <a:srgbClr val="151B19"/>
          </a:solidFill>
          <a:ln/>
        </p:spPr>
      </p:sp>
      <p:sp>
        <p:nvSpPr>
          <p:cNvPr id="15" name="Text 13"/>
          <p:cNvSpPr txBox="1"/>
          <p:nvPr/>
        </p:nvSpPr>
        <p:spPr>
          <a:xfrm>
            <a:off x="9208008" y="2331720"/>
            <a:ext cx="2103120" cy="594360"/>
          </a:xfrm>
          <a:prstGeom prst="rect">
            <a:avLst/>
          </a:prstGeom>
          <a:noFill/>
          <a:ln/>
        </p:spPr>
        <p:txBody>
          <a:bodyPr wrap="square" lIns="0" tIns="0" rIns="0" bIns="0" rtlCol="0" anchor="ctr"/>
          <a:lstStyle/>
          <a:p>
            <a:pPr indent="0" marL="0">
              <a:buNone/>
            </a:pPr>
            <a:r>
              <a:rPr lang="en-US" sz="3000" b="1" dirty="0">
                <a:solidFill>
                  <a:srgbClr val="2FD39B"/>
                </a:solidFill>
                <a:latin typeface="Cambria" pitchFamily="34" charset="0"/>
                <a:ea typeface="Cambria" pitchFamily="34" charset="-122"/>
                <a:cs typeface="Cambria" pitchFamily="34" charset="-120"/>
              </a:rPr>
              <a:t>5</a:t>
            </a:r>
            <a:endParaRPr lang="en-US" sz="3000" dirty="0"/>
          </a:p>
        </p:txBody>
      </p:sp>
      <p:sp>
        <p:nvSpPr>
          <p:cNvPr id="16" name="Text 14"/>
          <p:cNvSpPr txBox="1"/>
          <p:nvPr/>
        </p:nvSpPr>
        <p:spPr>
          <a:xfrm>
            <a:off x="9208008" y="2971800"/>
            <a:ext cx="2194560" cy="1097280"/>
          </a:xfrm>
          <a:prstGeom prst="rect">
            <a:avLst/>
          </a:prstGeom>
          <a:noFill/>
          <a:ln/>
        </p:spPr>
        <p:txBody>
          <a:bodyPr wrap="square" lIns="0" tIns="0" rIns="0" bIns="0" rtlCol="0" anchor="ctr"/>
          <a:lstStyle/>
          <a:p>
            <a:pPr indent="0" marL="0">
              <a:lnSpc>
                <a:spcPts val="1500"/>
              </a:lnSpc>
              <a:buNone/>
            </a:pPr>
            <a:r>
              <a:rPr lang="en-US" sz="1200" dirty="0">
                <a:solidFill>
                  <a:srgbClr val="9AA8A0"/>
                </a:solidFill>
                <a:latin typeface="Calibri" pitchFamily="34" charset="0"/>
                <a:ea typeface="Calibri" pitchFamily="34" charset="-122"/>
                <a:cs typeface="Calibri" pitchFamily="34" charset="-120"/>
              </a:rPr>
              <a:t>A2A agents</a:t>
            </a:r>
            <a:endParaRPr lang="en-US" sz="1200" dirty="0"/>
          </a:p>
        </p:txBody>
      </p:sp>
      <p:sp>
        <p:nvSpPr>
          <p:cNvPr id="17" name="Shape 15"/>
          <p:cNvSpPr/>
          <p:nvPr/>
        </p:nvSpPr>
        <p:spPr>
          <a:xfrm>
            <a:off x="640080" y="3794760"/>
            <a:ext cx="2560320" cy="1463040"/>
          </a:xfrm>
          <a:prstGeom prst="roundRect">
            <a:avLst>
              <a:gd name="adj" fmla="val 5000"/>
            </a:avLst>
          </a:prstGeom>
          <a:solidFill>
            <a:srgbClr val="151B19"/>
          </a:solidFill>
          <a:ln/>
        </p:spPr>
      </p:sp>
      <p:sp>
        <p:nvSpPr>
          <p:cNvPr id="18" name="Text 16"/>
          <p:cNvSpPr txBox="1"/>
          <p:nvPr/>
        </p:nvSpPr>
        <p:spPr>
          <a:xfrm>
            <a:off x="868680" y="4023360"/>
            <a:ext cx="2103120" cy="594360"/>
          </a:xfrm>
          <a:prstGeom prst="rect">
            <a:avLst/>
          </a:prstGeom>
          <a:noFill/>
          <a:ln/>
        </p:spPr>
        <p:txBody>
          <a:bodyPr wrap="square" lIns="0" tIns="0" rIns="0" bIns="0" rtlCol="0" anchor="ctr"/>
          <a:lstStyle/>
          <a:p>
            <a:pPr indent="0" marL="0">
              <a:buNone/>
            </a:pPr>
            <a:r>
              <a:rPr lang="en-US" sz="3000" b="1" dirty="0">
                <a:solidFill>
                  <a:srgbClr val="2FD39B"/>
                </a:solidFill>
                <a:latin typeface="Cambria" pitchFamily="34" charset="0"/>
                <a:ea typeface="Cambria" pitchFamily="34" charset="-122"/>
                <a:cs typeface="Cambria" pitchFamily="34" charset="-120"/>
              </a:rPr>
              <a:t>4</a:t>
            </a:r>
            <a:endParaRPr lang="en-US" sz="3000" dirty="0"/>
          </a:p>
        </p:txBody>
      </p:sp>
      <p:sp>
        <p:nvSpPr>
          <p:cNvPr id="19" name="Text 17"/>
          <p:cNvSpPr txBox="1"/>
          <p:nvPr/>
        </p:nvSpPr>
        <p:spPr>
          <a:xfrm>
            <a:off x="868680" y="4663440"/>
            <a:ext cx="2194560" cy="1097280"/>
          </a:xfrm>
          <a:prstGeom prst="rect">
            <a:avLst/>
          </a:prstGeom>
          <a:noFill/>
          <a:ln/>
        </p:spPr>
        <p:txBody>
          <a:bodyPr wrap="square" lIns="0" tIns="0" rIns="0" bIns="0" rtlCol="0" anchor="ctr"/>
          <a:lstStyle/>
          <a:p>
            <a:pPr indent="0" marL="0">
              <a:lnSpc>
                <a:spcPts val="1500"/>
              </a:lnSpc>
              <a:buNone/>
            </a:pPr>
            <a:r>
              <a:rPr lang="en-US" sz="1200" dirty="0">
                <a:solidFill>
                  <a:srgbClr val="9AA8A0"/>
                </a:solidFill>
                <a:latin typeface="Calibri" pitchFamily="34" charset="0"/>
                <a:ea typeface="Calibri" pitchFamily="34" charset="-122"/>
                <a:cs typeface="Calibri" pitchFamily="34" charset="-120"/>
              </a:rPr>
              <a:t>languages</a:t>
            </a:r>
            <a:endParaRPr lang="en-US" sz="1200" dirty="0"/>
          </a:p>
        </p:txBody>
      </p:sp>
      <p:sp>
        <p:nvSpPr>
          <p:cNvPr id="20" name="Shape 18"/>
          <p:cNvSpPr/>
          <p:nvPr/>
        </p:nvSpPr>
        <p:spPr>
          <a:xfrm>
            <a:off x="3419856" y="3794760"/>
            <a:ext cx="2560320" cy="1463040"/>
          </a:xfrm>
          <a:prstGeom prst="roundRect">
            <a:avLst>
              <a:gd name="adj" fmla="val 5000"/>
            </a:avLst>
          </a:prstGeom>
          <a:solidFill>
            <a:srgbClr val="151B19"/>
          </a:solidFill>
          <a:ln/>
        </p:spPr>
      </p:sp>
      <p:sp>
        <p:nvSpPr>
          <p:cNvPr id="21" name="Text 19"/>
          <p:cNvSpPr txBox="1"/>
          <p:nvPr/>
        </p:nvSpPr>
        <p:spPr>
          <a:xfrm>
            <a:off x="3648456" y="4023360"/>
            <a:ext cx="2103120" cy="594360"/>
          </a:xfrm>
          <a:prstGeom prst="rect">
            <a:avLst/>
          </a:prstGeom>
          <a:noFill/>
          <a:ln/>
        </p:spPr>
        <p:txBody>
          <a:bodyPr wrap="square" lIns="0" tIns="0" rIns="0" bIns="0" rtlCol="0" anchor="ctr"/>
          <a:lstStyle/>
          <a:p>
            <a:pPr indent="0" marL="0">
              <a:buNone/>
            </a:pPr>
            <a:r>
              <a:rPr lang="en-US" sz="3000" b="1" dirty="0">
                <a:solidFill>
                  <a:srgbClr val="2FD39B"/>
                </a:solidFill>
                <a:latin typeface="Cambria" pitchFamily="34" charset="0"/>
                <a:ea typeface="Cambria" pitchFamily="34" charset="-122"/>
                <a:cs typeface="Cambria" pitchFamily="34" charset="-120"/>
              </a:rPr>
              <a:t>~699 B</a:t>
            </a:r>
            <a:endParaRPr lang="en-US" sz="3000" dirty="0"/>
          </a:p>
        </p:txBody>
      </p:sp>
      <p:sp>
        <p:nvSpPr>
          <p:cNvPr id="22" name="Text 20"/>
          <p:cNvSpPr txBox="1"/>
          <p:nvPr/>
        </p:nvSpPr>
        <p:spPr>
          <a:xfrm>
            <a:off x="3648456" y="4663440"/>
            <a:ext cx="2194560" cy="1097280"/>
          </a:xfrm>
          <a:prstGeom prst="rect">
            <a:avLst/>
          </a:prstGeom>
          <a:noFill/>
          <a:ln/>
        </p:spPr>
        <p:txBody>
          <a:bodyPr wrap="square" lIns="0" tIns="0" rIns="0" bIns="0" rtlCol="0" anchor="ctr"/>
          <a:lstStyle/>
          <a:p>
            <a:pPr indent="0" marL="0">
              <a:lnSpc>
                <a:spcPts val="1500"/>
              </a:lnSpc>
              <a:buNone/>
            </a:pPr>
            <a:r>
              <a:rPr lang="en-US" sz="1200" dirty="0">
                <a:solidFill>
                  <a:srgbClr val="9AA8A0"/>
                </a:solidFill>
                <a:latin typeface="Calibri" pitchFamily="34" charset="0"/>
                <a:ea typeface="Calibri" pitchFamily="34" charset="-122"/>
                <a:cs typeface="Calibri" pitchFamily="34" charset="-120"/>
              </a:rPr>
              <a:t>evidence payload, no image</a:t>
            </a:r>
            <a:endParaRPr lang="en-US" sz="1200" dirty="0"/>
          </a:p>
        </p:txBody>
      </p:sp>
      <p:sp>
        <p:nvSpPr>
          <p:cNvPr id="23" name="Shape 21"/>
          <p:cNvSpPr/>
          <p:nvPr/>
        </p:nvSpPr>
        <p:spPr>
          <a:xfrm>
            <a:off x="6199632" y="3794760"/>
            <a:ext cx="2560320" cy="1463040"/>
          </a:xfrm>
          <a:prstGeom prst="roundRect">
            <a:avLst>
              <a:gd name="adj" fmla="val 5000"/>
            </a:avLst>
          </a:prstGeom>
          <a:solidFill>
            <a:srgbClr val="151B19"/>
          </a:solidFill>
          <a:ln/>
        </p:spPr>
      </p:sp>
      <p:sp>
        <p:nvSpPr>
          <p:cNvPr id="24" name="Text 22"/>
          <p:cNvSpPr txBox="1"/>
          <p:nvPr/>
        </p:nvSpPr>
        <p:spPr>
          <a:xfrm>
            <a:off x="6428232" y="4023360"/>
            <a:ext cx="2103120" cy="594360"/>
          </a:xfrm>
          <a:prstGeom prst="rect">
            <a:avLst/>
          </a:prstGeom>
          <a:noFill/>
          <a:ln/>
        </p:spPr>
        <p:txBody>
          <a:bodyPr wrap="square" lIns="0" tIns="0" rIns="0" bIns="0" rtlCol="0" anchor="ctr"/>
          <a:lstStyle/>
          <a:p>
            <a:pPr indent="0" marL="0">
              <a:buNone/>
            </a:pPr>
            <a:r>
              <a:rPr lang="en-US" sz="3000" b="1" dirty="0">
                <a:solidFill>
                  <a:srgbClr val="2FD39B"/>
                </a:solidFill>
                <a:latin typeface="Cambria" pitchFamily="34" charset="0"/>
                <a:ea typeface="Cambria" pitchFamily="34" charset="-122"/>
                <a:cs typeface="Cambria" pitchFamily="34" charset="-120"/>
              </a:rPr>
              <a:t>~1e-9</a:t>
            </a:r>
            <a:endParaRPr lang="en-US" sz="3000" dirty="0"/>
          </a:p>
        </p:txBody>
      </p:sp>
      <p:sp>
        <p:nvSpPr>
          <p:cNvPr id="25" name="Text 23"/>
          <p:cNvSpPr txBox="1"/>
          <p:nvPr/>
        </p:nvSpPr>
        <p:spPr>
          <a:xfrm>
            <a:off x="6428232" y="4663440"/>
            <a:ext cx="2194560" cy="1097280"/>
          </a:xfrm>
          <a:prstGeom prst="rect">
            <a:avLst/>
          </a:prstGeom>
          <a:noFill/>
          <a:ln/>
        </p:spPr>
        <p:txBody>
          <a:bodyPr wrap="square" lIns="0" tIns="0" rIns="0" bIns="0" rtlCol="0" anchor="ctr"/>
          <a:lstStyle/>
          <a:p>
            <a:pPr indent="0" marL="0">
              <a:lnSpc>
                <a:spcPts val="1500"/>
              </a:lnSpc>
              <a:buNone/>
            </a:pPr>
            <a:r>
              <a:rPr lang="en-US" sz="1200" dirty="0">
                <a:solidFill>
                  <a:srgbClr val="9AA8A0"/>
                </a:solidFill>
                <a:latin typeface="Calibri" pitchFamily="34" charset="0"/>
                <a:ea typeface="Calibri" pitchFamily="34" charset="-122"/>
                <a:cs typeface="Calibri" pitchFamily="34" charset="-120"/>
              </a:rPr>
              <a:t>browser/server model agreement</a:t>
            </a:r>
            <a:endParaRPr lang="en-US" sz="1200" dirty="0"/>
          </a:p>
        </p:txBody>
      </p:sp>
      <p:sp>
        <p:nvSpPr>
          <p:cNvPr id="26" name="Shape 24"/>
          <p:cNvSpPr/>
          <p:nvPr/>
        </p:nvSpPr>
        <p:spPr>
          <a:xfrm>
            <a:off x="8979408" y="3794760"/>
            <a:ext cx="2560320" cy="1463040"/>
          </a:xfrm>
          <a:prstGeom prst="roundRect">
            <a:avLst>
              <a:gd name="adj" fmla="val 5000"/>
            </a:avLst>
          </a:prstGeom>
          <a:solidFill>
            <a:srgbClr val="151B19"/>
          </a:solidFill>
          <a:ln/>
        </p:spPr>
      </p:sp>
      <p:sp>
        <p:nvSpPr>
          <p:cNvPr id="27" name="Text 25"/>
          <p:cNvSpPr txBox="1"/>
          <p:nvPr/>
        </p:nvSpPr>
        <p:spPr>
          <a:xfrm>
            <a:off x="9208008" y="4023360"/>
            <a:ext cx="2103120" cy="594360"/>
          </a:xfrm>
          <a:prstGeom prst="rect">
            <a:avLst/>
          </a:prstGeom>
          <a:noFill/>
          <a:ln/>
        </p:spPr>
        <p:txBody>
          <a:bodyPr wrap="square" lIns="0" tIns="0" rIns="0" bIns="0" rtlCol="0" anchor="ctr"/>
          <a:lstStyle/>
          <a:p>
            <a:pPr indent="0" marL="0">
              <a:buNone/>
            </a:pPr>
            <a:r>
              <a:rPr lang="en-US" sz="3000" b="1" dirty="0">
                <a:solidFill>
                  <a:srgbClr val="2FD39B"/>
                </a:solidFill>
                <a:latin typeface="Cambria" pitchFamily="34" charset="0"/>
                <a:ea typeface="Cambria" pitchFamily="34" charset="-122"/>
                <a:cs typeface="Cambria" pitchFamily="34" charset="-120"/>
              </a:rPr>
              <a:t>0</a:t>
            </a:r>
            <a:endParaRPr lang="en-US" sz="3000" dirty="0"/>
          </a:p>
        </p:txBody>
      </p:sp>
      <p:sp>
        <p:nvSpPr>
          <p:cNvPr id="28" name="Text 26"/>
          <p:cNvSpPr txBox="1"/>
          <p:nvPr/>
        </p:nvSpPr>
        <p:spPr>
          <a:xfrm>
            <a:off x="9208008" y="4663440"/>
            <a:ext cx="2194560" cy="1097280"/>
          </a:xfrm>
          <a:prstGeom prst="rect">
            <a:avLst/>
          </a:prstGeom>
          <a:noFill/>
          <a:ln/>
        </p:spPr>
        <p:txBody>
          <a:bodyPr wrap="square" lIns="0" tIns="0" rIns="0" bIns="0" rtlCol="0" anchor="ctr"/>
          <a:lstStyle/>
          <a:p>
            <a:pPr indent="0" marL="0">
              <a:lnSpc>
                <a:spcPts val="1500"/>
              </a:lnSpc>
              <a:buNone/>
            </a:pPr>
            <a:r>
              <a:rPr lang="en-US" sz="1200" dirty="0">
                <a:solidFill>
                  <a:srgbClr val="9AA8A0"/>
                </a:solidFill>
                <a:latin typeface="Calibri" pitchFamily="34" charset="0"/>
                <a:ea typeface="Calibri" pitchFamily="34" charset="-122"/>
                <a:cs typeface="Calibri" pitchFamily="34" charset="-120"/>
              </a:rPr>
              <a:t>hosted AI calls - CI fails the build</a:t>
            </a:r>
            <a:endParaRPr lang="en-US" sz="1200" dirty="0"/>
          </a:p>
        </p:txBody>
      </p:sp>
      <p:sp>
        <p:nvSpPr>
          <p:cNvPr id="29" name="Text 27"/>
          <p:cNvSpPr txBox="1"/>
          <p:nvPr/>
        </p:nvSpPr>
        <p:spPr>
          <a:xfrm>
            <a:off x="640080" y="5715000"/>
            <a:ext cx="10881360" cy="365760"/>
          </a:xfrm>
          <a:prstGeom prst="rect">
            <a:avLst/>
          </a:prstGeom>
          <a:noFill/>
          <a:ln/>
        </p:spPr>
        <p:txBody>
          <a:bodyPr wrap="square" lIns="0" tIns="0" rIns="0" bIns="0" rtlCol="0" anchor="ctr"/>
          <a:lstStyle/>
          <a:p>
            <a:pPr indent="0" marL="0">
              <a:buNone/>
            </a:pPr>
            <a:r>
              <a:rPr lang="en-US" sz="1200" dirty="0">
                <a:solidFill>
                  <a:srgbClr val="FFB02E"/>
                </a:solidFill>
                <a:latin typeface="Courier New" pitchFamily="34" charset="0"/>
                <a:ea typeface="Courier New" pitchFamily="34" charset="-122"/>
                <a:cs typeface="Courier New" pitchFamily="34" charset="-120"/>
              </a:rPr>
              <a:t>Check any of it without us:   pnpm e2e https://charkha-hashhawks.centralindia.cloudapp.azure.com</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151B19"/>
          </a:solidFill>
          <a:ln/>
        </p:spPr>
      </p:sp>
      <p:sp>
        <p:nvSpPr>
          <p:cNvPr id="3" name="Text 1"/>
          <p:cNvSpPr txBox="1"/>
          <p:nvPr/>
        </p:nvSpPr>
        <p:spPr>
          <a:xfrm>
            <a:off x="822960" y="822960"/>
            <a:ext cx="5486400" cy="237744"/>
          </a:xfrm>
          <a:prstGeom prst="rect">
            <a:avLst/>
          </a:prstGeom>
          <a:noFill/>
          <a:ln/>
        </p:spPr>
        <p:txBody>
          <a:bodyPr wrap="square" lIns="0" tIns="0" rIns="0" bIns="0" rtlCol="0" anchor="ctr"/>
          <a:lstStyle/>
          <a:p>
            <a:pPr indent="0" marL="0">
              <a:buNone/>
            </a:pPr>
            <a:r>
              <a:rPr lang="en-US" sz="1000" b="1" spc="200" kern="0" dirty="0">
                <a:solidFill>
                  <a:srgbClr val="FFB02E"/>
                </a:solidFill>
                <a:latin typeface="Courier New" pitchFamily="34" charset="0"/>
                <a:ea typeface="Courier New" pitchFamily="34" charset="-122"/>
                <a:cs typeface="Courier New" pitchFamily="34" charset="-120"/>
              </a:rPr>
              <a:t>HASHHAWKS</a:t>
            </a:r>
            <a:endParaRPr lang="en-US" sz="1000" dirty="0"/>
          </a:p>
        </p:txBody>
      </p:sp>
      <p:sp>
        <p:nvSpPr>
          <p:cNvPr id="4" name="Text 2"/>
          <p:cNvSpPr txBox="1"/>
          <p:nvPr/>
        </p:nvSpPr>
        <p:spPr>
          <a:xfrm>
            <a:off x="822960" y="1371600"/>
            <a:ext cx="9601200" cy="1828800"/>
          </a:xfrm>
          <a:prstGeom prst="rect">
            <a:avLst/>
          </a:prstGeom>
          <a:noFill/>
          <a:ln/>
        </p:spPr>
        <p:txBody>
          <a:bodyPr wrap="square" lIns="0" tIns="0" rIns="0" bIns="0" rtlCol="0" anchor="ctr"/>
          <a:lstStyle/>
          <a:p>
            <a:pPr indent="0" marL="0">
              <a:lnSpc>
                <a:spcPts val="5200"/>
              </a:lnSpc>
              <a:buNone/>
            </a:pPr>
            <a:r>
              <a:rPr lang="en-US" sz="4200" b="1" dirty="0">
                <a:solidFill>
                  <a:srgbClr val="EEF2EE"/>
                </a:solidFill>
                <a:latin typeface="Cambria" pitchFamily="34" charset="0"/>
                <a:ea typeface="Cambria" pitchFamily="34" charset="-122"/>
                <a:cs typeface="Cambria" pitchFamily="34" charset="-120"/>
              </a:rPr>
              <a:t>Verifiable, or it is</a:t>
            </a:r>
            <a:endParaRPr lang="en-US" sz="4200" dirty="0"/>
          </a:p>
          <a:p>
            <a:pPr indent="0" marL="0">
              <a:lnSpc>
                <a:spcPts val="5200"/>
              </a:lnSpc>
              <a:buNone/>
            </a:pPr>
            <a:r>
              <a:rPr lang="en-US" sz="4200" b="1" dirty="0">
                <a:solidFill>
                  <a:srgbClr val="EEF2EE"/>
                </a:solidFill>
                <a:latin typeface="Cambria" pitchFamily="34" charset="0"/>
                <a:ea typeface="Cambria" pitchFamily="34" charset="-122"/>
                <a:cs typeface="Cambria" pitchFamily="34" charset="-120"/>
              </a:rPr>
              <a:t>just another certificate.</a:t>
            </a:r>
            <a:endParaRPr lang="en-US" sz="4200" dirty="0"/>
          </a:p>
        </p:txBody>
      </p:sp>
      <p:sp>
        <p:nvSpPr>
          <p:cNvPr id="5" name="Text 3"/>
          <p:cNvSpPr txBox="1"/>
          <p:nvPr/>
        </p:nvSpPr>
        <p:spPr>
          <a:xfrm>
            <a:off x="822960" y="3337560"/>
            <a:ext cx="9601200" cy="1097280"/>
          </a:xfrm>
          <a:prstGeom prst="rect">
            <a:avLst/>
          </a:prstGeom>
          <a:noFill/>
          <a:ln/>
        </p:spPr>
        <p:txBody>
          <a:bodyPr wrap="square" lIns="0" tIns="0" rIns="0" bIns="0" rtlCol="0" anchor="ctr"/>
          <a:lstStyle/>
          <a:p>
            <a:pPr indent="0" marL="0">
              <a:lnSpc>
                <a:spcPts val="2400"/>
              </a:lnSpc>
              <a:buNone/>
            </a:pPr>
            <a:r>
              <a:rPr lang="en-US" sz="1550" dirty="0">
                <a:solidFill>
                  <a:srgbClr val="9AA8A0"/>
                </a:solidFill>
                <a:latin typeface="Calibri" pitchFamily="34" charset="0"/>
                <a:ea typeface="Calibri" pitchFamily="34" charset="-122"/>
                <a:cs typeface="Calibri" pitchFamily="34" charset="-120"/>
              </a:rPr>
              <a:t>Charkha turns a satellite pixel into a carbon credit a stranger can check -</a:t>
            </a:r>
            <a:endParaRPr lang="en-US" sz="1550" dirty="0"/>
          </a:p>
          <a:p>
            <a:pPr indent="0" marL="0">
              <a:lnSpc>
                <a:spcPts val="2400"/>
              </a:lnSpc>
              <a:buNone/>
            </a:pPr>
            <a:r>
              <a:rPr lang="en-US" sz="1550" dirty="0">
                <a:solidFill>
                  <a:srgbClr val="9AA8A0"/>
                </a:solidFill>
                <a:latin typeface="Calibri" pitchFamily="34" charset="0"/>
                <a:ea typeface="Calibri" pitchFamily="34" charset="-122"/>
                <a:cs typeface="Calibri" pitchFamily="34" charset="-120"/>
              </a:rPr>
              <a:t>without trusting us, and without asking our database to vouch for itself.</a:t>
            </a:r>
            <a:endParaRPr lang="en-US" sz="1550" dirty="0"/>
          </a:p>
        </p:txBody>
      </p:sp>
      <p:sp>
        <p:nvSpPr>
          <p:cNvPr id="6" name="Text 4"/>
          <p:cNvSpPr txBox="1"/>
          <p:nvPr/>
        </p:nvSpPr>
        <p:spPr>
          <a:xfrm>
            <a:off x="822960" y="4663440"/>
            <a:ext cx="2560320" cy="274320"/>
          </a:xfrm>
          <a:prstGeom prst="rect">
            <a:avLst/>
          </a:prstGeom>
          <a:noFill/>
          <a:ln/>
        </p:spPr>
        <p:txBody>
          <a:bodyPr wrap="square" lIns="0" tIns="0" rIns="0" bIns="0" rtlCol="0" anchor="ctr"/>
          <a:lstStyle/>
          <a:p>
            <a:pPr indent="0" marL="0">
              <a:buNone/>
            </a:pPr>
            <a:r>
              <a:rPr lang="en-US" sz="1500" b="1" dirty="0">
                <a:solidFill>
                  <a:srgbClr val="EEF2EE"/>
                </a:solidFill>
                <a:latin typeface="Cambria" pitchFamily="34" charset="0"/>
                <a:ea typeface="Cambria" pitchFamily="34" charset="-122"/>
                <a:cs typeface="Cambria" pitchFamily="34" charset="-120"/>
              </a:rPr>
              <a:t>Pavan Patel</a:t>
            </a:r>
            <a:endParaRPr lang="en-US" sz="1500" dirty="0"/>
          </a:p>
        </p:txBody>
      </p:sp>
      <p:sp>
        <p:nvSpPr>
          <p:cNvPr id="7" name="Text 5"/>
          <p:cNvSpPr txBox="1"/>
          <p:nvPr/>
        </p:nvSpPr>
        <p:spPr>
          <a:xfrm>
            <a:off x="822960" y="4965192"/>
            <a:ext cx="2606040" cy="1097280"/>
          </a:xfrm>
          <a:prstGeom prst="rect">
            <a:avLst/>
          </a:prstGeom>
          <a:noFill/>
          <a:ln/>
        </p:spPr>
        <p:txBody>
          <a:bodyPr wrap="square" lIns="0" tIns="0" rIns="0" bIns="0" rtlCol="0" anchor="ctr"/>
          <a:lstStyle/>
          <a:p>
            <a:pPr indent="0" marL="0">
              <a:lnSpc>
                <a:spcPts val="1400"/>
              </a:lnSpc>
              <a:buNone/>
            </a:pPr>
            <a:r>
              <a:rPr lang="en-US" sz="1100" dirty="0">
                <a:solidFill>
                  <a:srgbClr val="6F7D75"/>
                </a:solidFill>
                <a:latin typeface="Calibri" pitchFamily="34" charset="0"/>
                <a:ea typeface="Calibri" pitchFamily="34" charset="-122"/>
                <a:cs typeface="Calibri" pitchFamily="34" charset="-120"/>
              </a:rPr>
              <a:t>core spine, gateway, ledger</a:t>
            </a:r>
            <a:endParaRPr lang="en-US" sz="1100" dirty="0"/>
          </a:p>
        </p:txBody>
      </p:sp>
      <p:sp>
        <p:nvSpPr>
          <p:cNvPr id="8" name="Text 6"/>
          <p:cNvSpPr txBox="1"/>
          <p:nvPr/>
        </p:nvSpPr>
        <p:spPr>
          <a:xfrm>
            <a:off x="3520440" y="4663440"/>
            <a:ext cx="2560320" cy="274320"/>
          </a:xfrm>
          <a:prstGeom prst="rect">
            <a:avLst/>
          </a:prstGeom>
          <a:noFill/>
          <a:ln/>
        </p:spPr>
        <p:txBody>
          <a:bodyPr wrap="square" lIns="0" tIns="0" rIns="0" bIns="0" rtlCol="0" anchor="ctr"/>
          <a:lstStyle/>
          <a:p>
            <a:pPr indent="0" marL="0">
              <a:buNone/>
            </a:pPr>
            <a:r>
              <a:rPr lang="en-US" sz="1500" b="1" dirty="0">
                <a:solidFill>
                  <a:srgbClr val="EEF2EE"/>
                </a:solidFill>
                <a:latin typeface="Cambria" pitchFamily="34" charset="0"/>
                <a:ea typeface="Cambria" pitchFamily="34" charset="-122"/>
                <a:cs typeface="Cambria" pitchFamily="34" charset="-120"/>
              </a:rPr>
              <a:t>Harsh Pansuriya</a:t>
            </a:r>
            <a:endParaRPr lang="en-US" sz="1500" dirty="0"/>
          </a:p>
        </p:txBody>
      </p:sp>
      <p:sp>
        <p:nvSpPr>
          <p:cNvPr id="9" name="Text 7"/>
          <p:cNvSpPr txBox="1"/>
          <p:nvPr/>
        </p:nvSpPr>
        <p:spPr>
          <a:xfrm>
            <a:off x="3520440" y="4965192"/>
            <a:ext cx="2606040" cy="1097280"/>
          </a:xfrm>
          <a:prstGeom prst="rect">
            <a:avLst/>
          </a:prstGeom>
          <a:noFill/>
          <a:ln/>
        </p:spPr>
        <p:txBody>
          <a:bodyPr wrap="square" lIns="0" tIns="0" rIns="0" bIns="0" rtlCol="0" anchor="ctr"/>
          <a:lstStyle/>
          <a:p>
            <a:pPr indent="0" marL="0">
              <a:lnSpc>
                <a:spcPts val="1400"/>
              </a:lnSpc>
              <a:buNone/>
            </a:pPr>
            <a:r>
              <a:rPr lang="en-US" sz="1100" dirty="0">
                <a:solidFill>
                  <a:srgbClr val="6F7D75"/>
                </a:solidFill>
                <a:latin typeface="Calibri" pitchFamily="34" charset="0"/>
                <a:ea typeface="Calibri" pitchFamily="34" charset="-122"/>
                <a:cs typeface="Calibri" pitchFamily="34" charset="-120"/>
              </a:rPr>
              <a:t>producer, matchmaker, maps</a:t>
            </a:r>
            <a:endParaRPr lang="en-US" sz="1100" dirty="0"/>
          </a:p>
        </p:txBody>
      </p:sp>
      <p:sp>
        <p:nvSpPr>
          <p:cNvPr id="10" name="Text 8"/>
          <p:cNvSpPr txBox="1"/>
          <p:nvPr/>
        </p:nvSpPr>
        <p:spPr>
          <a:xfrm>
            <a:off x="6217920" y="4663440"/>
            <a:ext cx="2560320" cy="274320"/>
          </a:xfrm>
          <a:prstGeom prst="rect">
            <a:avLst/>
          </a:prstGeom>
          <a:noFill/>
          <a:ln/>
        </p:spPr>
        <p:txBody>
          <a:bodyPr wrap="square" lIns="0" tIns="0" rIns="0" bIns="0" rtlCol="0" anchor="ctr"/>
          <a:lstStyle/>
          <a:p>
            <a:pPr indent="0" marL="0">
              <a:buNone/>
            </a:pPr>
            <a:r>
              <a:rPr lang="en-US" sz="1500" b="1" dirty="0">
                <a:solidFill>
                  <a:srgbClr val="EEF2EE"/>
                </a:solidFill>
                <a:latin typeface="Cambria" pitchFamily="34" charset="0"/>
                <a:ea typeface="Cambria" pitchFamily="34" charset="-122"/>
                <a:cs typeface="Cambria" pitchFamily="34" charset="-120"/>
              </a:rPr>
              <a:t>Hem</a:t>
            </a:r>
            <a:endParaRPr lang="en-US" sz="1500" dirty="0"/>
          </a:p>
        </p:txBody>
      </p:sp>
      <p:sp>
        <p:nvSpPr>
          <p:cNvPr id="11" name="Text 9"/>
          <p:cNvSpPr txBox="1"/>
          <p:nvPr/>
        </p:nvSpPr>
        <p:spPr>
          <a:xfrm>
            <a:off x="6217920" y="4965192"/>
            <a:ext cx="2606040" cy="1097280"/>
          </a:xfrm>
          <a:prstGeom prst="rect">
            <a:avLst/>
          </a:prstGeom>
          <a:noFill/>
          <a:ln/>
        </p:spPr>
        <p:txBody>
          <a:bodyPr wrap="square" lIns="0" tIns="0" rIns="0" bIns="0" rtlCol="0" anchor="ctr"/>
          <a:lstStyle/>
          <a:p>
            <a:pPr indent="0" marL="0">
              <a:lnSpc>
                <a:spcPts val="1400"/>
              </a:lnSpc>
              <a:buNone/>
            </a:pPr>
            <a:r>
              <a:rPr lang="en-US" sz="1100" dirty="0">
                <a:solidFill>
                  <a:srgbClr val="6F7D75"/>
                </a:solidFill>
                <a:latin typeface="Calibri" pitchFamily="34" charset="0"/>
                <a:ea typeface="Calibri" pitchFamily="34" charset="-122"/>
                <a:cs typeface="Calibri" pitchFamily="34" charset="-120"/>
              </a:rPr>
              <a:t>verifier, ONNX, field, Saathi resolver</a:t>
            </a:r>
            <a:endParaRPr lang="en-US" sz="1100" dirty="0"/>
          </a:p>
        </p:txBody>
      </p:sp>
      <p:sp>
        <p:nvSpPr>
          <p:cNvPr id="12" name="Text 10"/>
          <p:cNvSpPr txBox="1"/>
          <p:nvPr/>
        </p:nvSpPr>
        <p:spPr>
          <a:xfrm>
            <a:off x="8915400" y="4663440"/>
            <a:ext cx="2560320" cy="274320"/>
          </a:xfrm>
          <a:prstGeom prst="rect">
            <a:avLst/>
          </a:prstGeom>
          <a:noFill/>
          <a:ln/>
        </p:spPr>
        <p:txBody>
          <a:bodyPr wrap="square" lIns="0" tIns="0" rIns="0" bIns="0" rtlCol="0" anchor="ctr"/>
          <a:lstStyle/>
          <a:p>
            <a:pPr indent="0" marL="0">
              <a:buNone/>
            </a:pPr>
            <a:r>
              <a:rPr lang="en-US" sz="1500" b="1" dirty="0">
                <a:solidFill>
                  <a:srgbClr val="EEF2EE"/>
                </a:solidFill>
                <a:latin typeface="Cambria" pitchFamily="34" charset="0"/>
                <a:ea typeface="Cambria" pitchFamily="34" charset="-122"/>
                <a:cs typeface="Cambria" pitchFamily="34" charset="-120"/>
              </a:rPr>
              <a:t>Ayush</a:t>
            </a:r>
            <a:endParaRPr lang="en-US" sz="1500" dirty="0"/>
          </a:p>
        </p:txBody>
      </p:sp>
      <p:sp>
        <p:nvSpPr>
          <p:cNvPr id="13" name="Text 11"/>
          <p:cNvSpPr txBox="1"/>
          <p:nvPr/>
        </p:nvSpPr>
        <p:spPr>
          <a:xfrm>
            <a:off x="8915400" y="4965192"/>
            <a:ext cx="2606040" cy="1097280"/>
          </a:xfrm>
          <a:prstGeom prst="rect">
            <a:avLst/>
          </a:prstGeom>
          <a:noFill/>
          <a:ln/>
        </p:spPr>
        <p:txBody>
          <a:bodyPr wrap="square" lIns="0" tIns="0" rIns="0" bIns="0" rtlCol="0" anchor="ctr"/>
          <a:lstStyle/>
          <a:p>
            <a:pPr indent="0" marL="0">
              <a:lnSpc>
                <a:spcPts val="1400"/>
              </a:lnSpc>
              <a:buNone/>
            </a:pPr>
            <a:r>
              <a:rPr lang="en-US" sz="1100" dirty="0">
                <a:solidFill>
                  <a:srgbClr val="6F7D75"/>
                </a:solidFill>
                <a:latin typeface="Calibri" pitchFamily="34" charset="0"/>
                <a:ea typeface="Calibri" pitchFamily="34" charset="-122"/>
                <a:cs typeface="Calibri" pitchFamily="34" charset="-120"/>
              </a:rPr>
              <a:t>registry, credentials, audit</a:t>
            </a:r>
            <a:endParaRPr lang="en-US" sz="1100" dirty="0"/>
          </a:p>
        </p:txBody>
      </p:sp>
      <p:sp>
        <p:nvSpPr>
          <p:cNvPr id="14" name="Text 12"/>
          <p:cNvSpPr txBox="1"/>
          <p:nvPr/>
        </p:nvSpPr>
        <p:spPr>
          <a:xfrm>
            <a:off x="822960" y="5943600"/>
            <a:ext cx="7315200" cy="274320"/>
          </a:xfrm>
          <a:prstGeom prst="rect">
            <a:avLst/>
          </a:prstGeom>
          <a:noFill/>
          <a:ln/>
        </p:spPr>
        <p:txBody>
          <a:bodyPr wrap="square" lIns="0" tIns="0" rIns="0" bIns="0" rtlCol="0" anchor="ctr"/>
          <a:lstStyle/>
          <a:p>
            <a:pPr indent="0" marL="0">
              <a:buNone/>
            </a:pPr>
            <a:r>
              <a:rPr lang="en-US" sz="1250" dirty="0">
                <a:solidFill>
                  <a:srgbClr val="2FD39B"/>
                </a:solidFill>
                <a:latin typeface="Courier New" pitchFamily="34" charset="0"/>
                <a:ea typeface="Courier New" pitchFamily="34" charset="-122"/>
                <a:cs typeface="Courier New" pitchFamily="34" charset="-120"/>
              </a:rPr>
              <a:t>charkha-hashhawks.centralindia.cloudapp.azure.com</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Charkha - Waste-to-Carbon-Value Chain Tracker</dc:title>
  <dc:subject>PptxGenJS Presentation</dc:subject>
  <dc:creator>HashHawks</dc:creator>
  <cp:lastModifiedBy>HashHawks</cp:lastModifiedBy>
  <cp:revision>1</cp:revision>
  <dcterms:created xsi:type="dcterms:W3CDTF">2026-09-12T11:09:47Z</dcterms:created>
  <dcterms:modified xsi:type="dcterms:W3CDTF">2026-09-12T11:09:47Z</dcterms:modified>
</cp:coreProperties>
</file>